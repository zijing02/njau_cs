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7" r:id="rId2"/>
  </p:sldMasterIdLst>
  <p:notesMasterIdLst>
    <p:notesMasterId r:id="rId20"/>
  </p:notesMasterIdLst>
  <p:sldIdLst>
    <p:sldId id="258" r:id="rId3"/>
    <p:sldId id="257" r:id="rId4"/>
    <p:sldId id="256" r:id="rId5"/>
    <p:sldId id="259" r:id="rId6"/>
    <p:sldId id="264" r:id="rId7"/>
    <p:sldId id="266" r:id="rId8"/>
    <p:sldId id="267" r:id="rId9"/>
    <p:sldId id="268" r:id="rId10"/>
    <p:sldId id="262" r:id="rId11"/>
    <p:sldId id="263" r:id="rId12"/>
    <p:sldId id="270" r:id="rId13"/>
    <p:sldId id="273" r:id="rId14"/>
    <p:sldId id="275" r:id="rId15"/>
    <p:sldId id="274" r:id="rId16"/>
    <p:sldId id="281" r:id="rId17"/>
    <p:sldId id="271" r:id="rId18"/>
    <p:sldId id="280" r:id="rId19"/>
  </p:sldIdLst>
  <p:sldSz cx="12192000" cy="6858000"/>
  <p:notesSz cx="7104063" cy="10234613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F2FA"/>
    <a:srgbClr val="123172"/>
    <a:srgbClr val="50D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495" autoAdjust="0"/>
  </p:normalViewPr>
  <p:slideViewPr>
    <p:cSldViewPr snapToGrid="0">
      <p:cViewPr varScale="1">
        <p:scale>
          <a:sx n="72" d="100"/>
          <a:sy n="72" d="100"/>
        </p:scale>
        <p:origin x="7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9B6E6-FB24-4AD9-BF9C-E5E4EF2F357D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1B77B-C61F-422E-AC8A-D72AD983B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9698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 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526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972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02295-21CB-D7B7-A4A0-99AE1633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99A1BC-BD09-3A89-5D90-F828364E9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BDE2AE-211A-6CAD-E7BB-C27A6BEC5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97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591985573"/>
      </p:ext>
    </p:extLst>
  </p:cSld>
  <p:clrMapOvr>
    <a:masterClrMapping/>
  </p:clrMapOvr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2025/7/1 Tue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7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2025/7/1 Tue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708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02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1"/>
            </a:gs>
            <a:gs pos="74000">
              <a:srgbClr val="12317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2025/7/1 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754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91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1760" y="-17225"/>
            <a:ext cx="8908481" cy="6892450"/>
          </a:xfrm>
          <a:prstGeom prst="rect">
            <a:avLst/>
          </a:prstGeom>
        </p:spPr>
      </p:pic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067763" y="2211828"/>
            <a:ext cx="10201065" cy="785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43" tIns="45422" rIns="90843" bIns="45422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zh-CN" altLang="en-US" sz="3000" b="1" dirty="0">
                <a:solidFill>
                  <a:srgbClr val="15F2FA"/>
                </a:solidFill>
                <a:cs typeface="+mn-ea"/>
                <a:sym typeface="+mn-lt"/>
              </a:rPr>
              <a:t>基于</a:t>
            </a:r>
            <a:r>
              <a:rPr lang="en-US" altLang="zh-CN" sz="3000" b="1" dirty="0">
                <a:solidFill>
                  <a:srgbClr val="15F2FA"/>
                </a:solidFill>
                <a:cs typeface="+mn-ea"/>
                <a:sym typeface="+mn-lt"/>
              </a:rPr>
              <a:t>Hadoop</a:t>
            </a:r>
            <a:r>
              <a:rPr lang="zh-CN" altLang="en-US" sz="3000" b="1" dirty="0">
                <a:solidFill>
                  <a:srgbClr val="15F2FA"/>
                </a:solidFill>
                <a:cs typeface="+mn-ea"/>
                <a:sym typeface="+mn-lt"/>
              </a:rPr>
              <a:t>与</a:t>
            </a:r>
            <a:r>
              <a:rPr lang="en-US" altLang="zh-CN" sz="3000" b="1" dirty="0">
                <a:solidFill>
                  <a:srgbClr val="15F2FA"/>
                </a:solidFill>
                <a:cs typeface="+mn-ea"/>
                <a:sym typeface="+mn-lt"/>
              </a:rPr>
              <a:t>Spark</a:t>
            </a:r>
            <a:r>
              <a:rPr lang="zh-CN" altLang="en-US" sz="3000" b="1" dirty="0">
                <a:solidFill>
                  <a:srgbClr val="15F2FA"/>
                </a:solidFill>
                <a:cs typeface="+mn-ea"/>
                <a:sym typeface="+mn-lt"/>
              </a:rPr>
              <a:t>的农业大数据</a:t>
            </a:r>
            <a:endParaRPr lang="en-US" altLang="zh-CN" sz="3000" b="1" dirty="0">
              <a:solidFill>
                <a:srgbClr val="15F2FA"/>
              </a:solidFill>
              <a:cs typeface="+mn-ea"/>
              <a:sym typeface="+mn-lt"/>
            </a:endParaRPr>
          </a:p>
          <a:p>
            <a:pPr algn="ctr"/>
            <a:r>
              <a:rPr lang="zh-CN" altLang="en-US" sz="3000" b="1" dirty="0">
                <a:solidFill>
                  <a:srgbClr val="15F2FA"/>
                </a:solidFill>
                <a:cs typeface="+mn-ea"/>
                <a:sym typeface="+mn-lt"/>
              </a:rPr>
              <a:t>分析与应用研究</a:t>
            </a:r>
            <a:endParaRPr lang="zh-CN" altLang="zh-CN" sz="3000" b="1" dirty="0">
              <a:solidFill>
                <a:srgbClr val="15F2FA"/>
              </a:solidFill>
              <a:cs typeface="+mn-ea"/>
              <a:sym typeface="+mn-lt"/>
            </a:endParaRPr>
          </a:p>
          <a:p>
            <a:pPr algn="ctr"/>
            <a:endParaRPr lang="zh-CN" altLang="zh-CN" sz="3000" b="1" dirty="0">
              <a:solidFill>
                <a:srgbClr val="15F2FA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1529523" y="3234191"/>
            <a:ext cx="9277545" cy="5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43" tIns="45422" rIns="90843" bIns="45422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200" b="0" dirty="0">
                <a:solidFill>
                  <a:srgbClr val="15F2FA"/>
                </a:solidFill>
                <a:cs typeface="+mn-ea"/>
                <a:sym typeface="+mn-lt"/>
              </a:rPr>
              <a:t>计科</a:t>
            </a:r>
            <a:r>
              <a:rPr lang="en-US" altLang="zh-CN" sz="1200" b="0" dirty="0">
                <a:solidFill>
                  <a:srgbClr val="15F2FA"/>
                </a:solidFill>
                <a:cs typeface="+mn-ea"/>
                <a:sym typeface="+mn-lt"/>
              </a:rPr>
              <a:t>221 </a:t>
            </a:r>
            <a:r>
              <a:rPr lang="zh-CN" altLang="en-US" sz="1200" b="0" dirty="0">
                <a:solidFill>
                  <a:srgbClr val="15F2FA"/>
                </a:solidFill>
                <a:cs typeface="+mn-ea"/>
                <a:sym typeface="+mn-lt"/>
              </a:rPr>
              <a:t>董自经 </a:t>
            </a:r>
            <a:r>
              <a:rPr lang="en-US" altLang="zh-CN" sz="1200" b="0" dirty="0">
                <a:solidFill>
                  <a:srgbClr val="15F2FA"/>
                </a:solidFill>
                <a:cs typeface="+mn-ea"/>
                <a:sym typeface="+mn-lt"/>
              </a:rPr>
              <a:t>19222126</a:t>
            </a:r>
            <a:endParaRPr lang="zh-CN" altLang="zh-CN" sz="1200" b="0" dirty="0">
              <a:solidFill>
                <a:srgbClr val="15F2FA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advTm="9032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8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8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12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椭圆 42"/>
          <p:cNvSpPr>
            <a:spLocks noChangeAspect="1"/>
          </p:cNvSpPr>
          <p:nvPr/>
        </p:nvSpPr>
        <p:spPr>
          <a:xfrm>
            <a:off x="332014" y="2304458"/>
            <a:ext cx="1970314" cy="1970314"/>
          </a:xfrm>
          <a:prstGeom prst="ellipse">
            <a:avLst/>
          </a:prstGeom>
          <a:noFill/>
          <a:ln w="25400">
            <a:solidFill>
              <a:srgbClr val="15F2FA"/>
            </a:solidFill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44" name="文本框 43"/>
          <p:cNvSpPr txBox="1">
            <a:spLocks noChangeAspect="1"/>
          </p:cNvSpPr>
          <p:nvPr/>
        </p:nvSpPr>
        <p:spPr>
          <a:xfrm>
            <a:off x="883783" y="2530758"/>
            <a:ext cx="885825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15F2FA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45" name="文本框 44"/>
          <p:cNvSpPr txBox="1">
            <a:spLocks noChangeAspect="1"/>
          </p:cNvSpPr>
          <p:nvPr/>
        </p:nvSpPr>
        <p:spPr>
          <a:xfrm>
            <a:off x="615950" y="3403324"/>
            <a:ext cx="158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引言</a:t>
            </a:r>
          </a:p>
        </p:txBody>
      </p:sp>
      <p:sp>
        <p:nvSpPr>
          <p:cNvPr id="51" name="椭圆 50"/>
          <p:cNvSpPr>
            <a:spLocks noChangeAspect="1"/>
          </p:cNvSpPr>
          <p:nvPr/>
        </p:nvSpPr>
        <p:spPr>
          <a:xfrm>
            <a:off x="4915765" y="2304458"/>
            <a:ext cx="1970314" cy="1970314"/>
          </a:xfrm>
          <a:prstGeom prst="ellipse">
            <a:avLst/>
          </a:prstGeom>
          <a:noFill/>
          <a:ln w="25400">
            <a:solidFill>
              <a:srgbClr val="15F2FA"/>
            </a:solidFill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52" name="文本框 51"/>
          <p:cNvSpPr txBox="1">
            <a:spLocks noChangeAspect="1"/>
          </p:cNvSpPr>
          <p:nvPr/>
        </p:nvSpPr>
        <p:spPr>
          <a:xfrm>
            <a:off x="5458009" y="2530758"/>
            <a:ext cx="885825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15F2FA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53" name="文本框 52"/>
          <p:cNvSpPr txBox="1">
            <a:spLocks noChangeAspect="1"/>
          </p:cNvSpPr>
          <p:nvPr/>
        </p:nvSpPr>
        <p:spPr>
          <a:xfrm>
            <a:off x="5199701" y="3403324"/>
            <a:ext cx="158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研究现状</a:t>
            </a:r>
          </a:p>
        </p:txBody>
      </p:sp>
      <p:sp>
        <p:nvSpPr>
          <p:cNvPr id="54" name="椭圆 53"/>
          <p:cNvSpPr>
            <a:spLocks noChangeAspect="1"/>
          </p:cNvSpPr>
          <p:nvPr/>
        </p:nvSpPr>
        <p:spPr>
          <a:xfrm>
            <a:off x="2586264" y="2304458"/>
            <a:ext cx="1970314" cy="1970314"/>
          </a:xfrm>
          <a:prstGeom prst="ellipse">
            <a:avLst/>
          </a:prstGeom>
          <a:noFill/>
          <a:ln w="25400">
            <a:solidFill>
              <a:srgbClr val="15F2FA"/>
            </a:solidFill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55" name="文本框 54"/>
          <p:cNvSpPr txBox="1">
            <a:spLocks noChangeAspect="1"/>
          </p:cNvSpPr>
          <p:nvPr/>
        </p:nvSpPr>
        <p:spPr>
          <a:xfrm>
            <a:off x="3128508" y="2547574"/>
            <a:ext cx="885825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15F2FA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56" name="文本框 55"/>
          <p:cNvSpPr txBox="1">
            <a:spLocks noChangeAspect="1"/>
          </p:cNvSpPr>
          <p:nvPr/>
        </p:nvSpPr>
        <p:spPr>
          <a:xfrm>
            <a:off x="2870200" y="3403324"/>
            <a:ext cx="158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技术基础</a:t>
            </a:r>
          </a:p>
        </p:txBody>
      </p:sp>
      <p:sp>
        <p:nvSpPr>
          <p:cNvPr id="57" name="椭圆 56"/>
          <p:cNvSpPr>
            <a:spLocks noChangeAspect="1"/>
          </p:cNvSpPr>
          <p:nvPr/>
        </p:nvSpPr>
        <p:spPr>
          <a:xfrm>
            <a:off x="7400514" y="2287642"/>
            <a:ext cx="1970314" cy="1970314"/>
          </a:xfrm>
          <a:prstGeom prst="ellipse">
            <a:avLst/>
          </a:prstGeom>
          <a:noFill/>
          <a:ln w="25400">
            <a:solidFill>
              <a:srgbClr val="15F2FA"/>
            </a:solidFill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58" name="文本框 57"/>
          <p:cNvSpPr txBox="1">
            <a:spLocks noChangeAspect="1"/>
          </p:cNvSpPr>
          <p:nvPr/>
        </p:nvSpPr>
        <p:spPr>
          <a:xfrm>
            <a:off x="8027534" y="2530757"/>
            <a:ext cx="885825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15F2FA"/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59" name="文本框 58"/>
          <p:cNvSpPr txBox="1">
            <a:spLocks noChangeAspect="1"/>
          </p:cNvSpPr>
          <p:nvPr/>
        </p:nvSpPr>
        <p:spPr>
          <a:xfrm>
            <a:off x="7684450" y="3386508"/>
            <a:ext cx="158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应用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4604779" y="40755"/>
            <a:ext cx="3057525" cy="1144939"/>
            <a:chOff x="4582596" y="174658"/>
            <a:chExt cx="3057525" cy="1144939"/>
          </a:xfrm>
        </p:grpSpPr>
        <p:sp>
          <p:nvSpPr>
            <p:cNvPr id="72" name="文本框 71"/>
            <p:cNvSpPr txBox="1"/>
            <p:nvPr/>
          </p:nvSpPr>
          <p:spPr>
            <a:xfrm>
              <a:off x="4582596" y="174658"/>
              <a:ext cx="30575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rgbClr val="15F2FA"/>
                  </a:solidFill>
                  <a:cs typeface="+mn-ea"/>
                  <a:sym typeface="+mn-lt"/>
                </a:rPr>
                <a:t>目录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598925" y="950265"/>
              <a:ext cx="3033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15F2FA"/>
                  </a:solidFill>
                  <a:cs typeface="+mn-ea"/>
                  <a:sym typeface="+mn-lt"/>
                </a:rPr>
                <a:t>contents</a:t>
              </a:r>
            </a:p>
          </p:txBody>
        </p:sp>
      </p:grpSp>
      <p:sp>
        <p:nvSpPr>
          <p:cNvPr id="74" name="弧形 73"/>
          <p:cNvSpPr/>
          <p:nvPr/>
        </p:nvSpPr>
        <p:spPr>
          <a:xfrm>
            <a:off x="4710239" y="-1423302"/>
            <a:ext cx="2846604" cy="2846604"/>
          </a:xfrm>
          <a:prstGeom prst="arc">
            <a:avLst>
              <a:gd name="adj1" fmla="val 78771"/>
              <a:gd name="adj2" fmla="val 10862926"/>
            </a:avLst>
          </a:prstGeom>
          <a:ln w="28575"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34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E0745E5-3031-14BE-E1E9-A47CD64C6E08}"/>
              </a:ext>
            </a:extLst>
          </p:cNvPr>
          <p:cNvSpPr>
            <a:spLocks noChangeAspect="1"/>
          </p:cNvSpPr>
          <p:nvPr/>
        </p:nvSpPr>
        <p:spPr>
          <a:xfrm>
            <a:off x="9730015" y="2304458"/>
            <a:ext cx="1970314" cy="1970314"/>
          </a:xfrm>
          <a:prstGeom prst="ellipse">
            <a:avLst/>
          </a:prstGeom>
          <a:noFill/>
          <a:ln w="25400">
            <a:solidFill>
              <a:srgbClr val="15F2FA"/>
            </a:solidFill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0B3813-17EC-ED55-9F62-B10B7483B27E}"/>
              </a:ext>
            </a:extLst>
          </p:cNvPr>
          <p:cNvSpPr txBox="1">
            <a:spLocks noChangeAspect="1"/>
          </p:cNvSpPr>
          <p:nvPr/>
        </p:nvSpPr>
        <p:spPr>
          <a:xfrm>
            <a:off x="10272259" y="2547573"/>
            <a:ext cx="885825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15F2FA"/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6A8AEE-47DF-E223-C071-CEBA6C9532F2}"/>
              </a:ext>
            </a:extLst>
          </p:cNvPr>
          <p:cNvSpPr txBox="1">
            <a:spLocks noChangeAspect="1"/>
          </p:cNvSpPr>
          <p:nvPr/>
        </p:nvSpPr>
        <p:spPr>
          <a:xfrm>
            <a:off x="10013951" y="3403324"/>
            <a:ext cx="158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总结</a:t>
            </a:r>
          </a:p>
        </p:txBody>
      </p:sp>
    </p:spTree>
  </p:cSld>
  <p:clrMapOvr>
    <a:masterClrMapping/>
  </p:clrMapOvr>
  <p:transition advTm="262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/>
      <p:bldP spid="51" grpId="0" animBg="1"/>
      <p:bldP spid="52" grpId="0"/>
      <p:bldP spid="53" grpId="0"/>
      <p:bldP spid="54" grpId="0" animBg="1"/>
      <p:bldP spid="55" grpId="0"/>
      <p:bldP spid="56" grpId="0"/>
      <p:bldP spid="57" grpId="0" animBg="1"/>
      <p:bldP spid="58" grpId="0"/>
      <p:bldP spid="59" grpId="0"/>
      <p:bldP spid="74" grpId="0" animBg="1"/>
      <p:bldP spid="2" grpId="0" animBg="1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1760" y="-17225"/>
            <a:ext cx="8908481" cy="6892450"/>
          </a:xfrm>
          <a:prstGeom prst="rect">
            <a:avLst/>
          </a:prstGeom>
        </p:spPr>
      </p:pic>
      <p:sp>
        <p:nvSpPr>
          <p:cNvPr id="3" name="TextBox 13"/>
          <p:cNvSpPr txBox="1"/>
          <p:nvPr/>
        </p:nvSpPr>
        <p:spPr>
          <a:xfrm>
            <a:off x="2309255" y="3594447"/>
            <a:ext cx="7827659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3500" dirty="0">
                <a:solidFill>
                  <a:srgbClr val="15F2FA"/>
                </a:solidFill>
                <a:cs typeface="+mn-ea"/>
                <a:sym typeface="+mn-lt"/>
              </a:rPr>
              <a:t>研究背景及研究意义</a:t>
            </a: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5237819" y="1504690"/>
            <a:ext cx="1973685" cy="1982018"/>
          </a:xfrm>
          <a:prstGeom prst="ellipse">
            <a:avLst/>
          </a:prstGeom>
          <a:solidFill>
            <a:srgbClr val="15F2F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843" tIns="45422" rIns="90843" bIns="45422" numCol="1" rtlCol="0" anchor="t" anchorCtr="0" compatLnSpc="1"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Freeform 8"/>
          <p:cNvSpPr/>
          <p:nvPr/>
        </p:nvSpPr>
        <p:spPr bwMode="auto">
          <a:xfrm>
            <a:off x="5140594" y="2516937"/>
            <a:ext cx="2168135" cy="1097262"/>
          </a:xfrm>
          <a:custGeom>
            <a:avLst/>
            <a:gdLst>
              <a:gd name="T0" fmla="*/ 3963 w 3963"/>
              <a:gd name="T1" fmla="*/ 0 h 1997"/>
              <a:gd name="T2" fmla="*/ 3963 w 3963"/>
              <a:gd name="T3" fmla="*/ 16 h 1997"/>
              <a:gd name="T4" fmla="*/ 1982 w 3963"/>
              <a:gd name="T5" fmla="*/ 1997 h 1997"/>
              <a:gd name="T6" fmla="*/ 0 w 3963"/>
              <a:gd name="T7" fmla="*/ 16 h 1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63" h="1997">
                <a:moveTo>
                  <a:pt x="3963" y="0"/>
                </a:moveTo>
                <a:cubicBezTo>
                  <a:pt x="3963" y="5"/>
                  <a:pt x="3963" y="11"/>
                  <a:pt x="3963" y="16"/>
                </a:cubicBezTo>
                <a:cubicBezTo>
                  <a:pt x="3963" y="1110"/>
                  <a:pt x="3076" y="1997"/>
                  <a:pt x="1982" y="1997"/>
                </a:cubicBezTo>
                <a:cubicBezTo>
                  <a:pt x="888" y="1997"/>
                  <a:pt x="0" y="1110"/>
                  <a:pt x="0" y="16"/>
                </a:cubicBezTo>
              </a:path>
            </a:pathLst>
          </a:custGeom>
          <a:noFill/>
          <a:ln w="8" cap="flat" cmpd="sng">
            <a:solidFill>
              <a:srgbClr val="4E4B49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</a:extLst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7246567" y="2480278"/>
            <a:ext cx="122227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5086039" y="2480278"/>
            <a:ext cx="120840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TextBox 13"/>
          <p:cNvSpPr txBox="1">
            <a:spLocks noChangeArrowheads="1"/>
          </p:cNvSpPr>
          <p:nvPr/>
        </p:nvSpPr>
        <p:spPr bwMode="auto">
          <a:xfrm>
            <a:off x="5380579" y="1543551"/>
            <a:ext cx="1685011" cy="1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sz="8740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lang="en-US" altLang="en-US" sz="8740" b="1" dirty="0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5380579" y="2746750"/>
            <a:ext cx="1685011" cy="530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45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引言</a:t>
            </a:r>
          </a:p>
        </p:txBody>
      </p:sp>
    </p:spTree>
  </p:cSld>
  <p:clrMapOvr>
    <a:masterClrMapping/>
  </p:clrMapOvr>
  <p:transition advTm="5522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0.00312 0.04328 L -0.01614 0.09305 C -0.02422 0.10926 -0.03776 0.13009 -0.05 0.14097 C -0.06198 0.15208 -0.07382 0.16018 -0.08776 0.15949 C -0.10755 0.15949 -0.12174 0.14815 -0.13359 0.13773 C -0.14557 0.12731 -0.15299 0.11203 -0.15976 0.09676 L -0.17461 0.04629 L -0.17955 2.22222E-6 " pathEditMode="relative" rAng="0" ptsTypes="AAAAAAAAA">
                                      <p:cBhvr>
                                        <p:cTn id="30" dur="1000" spd="-99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84" y="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 autoUpdateAnimBg="0"/>
      <p:bldP spid="6" grpId="0" bldLvl="0" animBg="1"/>
      <p:bldP spid="7" grpId="0" bldLvl="0" animBg="1" autoUpdateAnimBg="0"/>
      <p:bldP spid="7" grpId="1" bldLvl="0" animBg="1" autoUpdateAnimBg="0"/>
      <p:bldP spid="8" grpId="0" bldLvl="0" animBg="1" autoUpdateAnimBg="0"/>
      <p:bldP spid="9" grpId="0" autoUpdateAnimBg="0"/>
      <p:bldP spid="1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0970" y="226695"/>
            <a:ext cx="389064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引言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799888"/>
            <a:ext cx="12192000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 bwMode="auto">
          <a:xfrm>
            <a:off x="527381" y="1701205"/>
            <a:ext cx="1919816" cy="1919817"/>
            <a:chOff x="630085" y="1203598"/>
            <a:chExt cx="1440160" cy="1440160"/>
          </a:xfrm>
          <a:noFill/>
        </p:grpSpPr>
        <p:sp>
          <p:nvSpPr>
            <p:cNvPr id="4" name="椭圆 3"/>
            <p:cNvSpPr/>
            <p:nvPr/>
          </p:nvSpPr>
          <p:spPr>
            <a:xfrm>
              <a:off x="630085" y="1203598"/>
              <a:ext cx="1440160" cy="1440160"/>
            </a:xfrm>
            <a:prstGeom prst="ellipse">
              <a:avLst/>
            </a:prstGeom>
            <a:grpFill/>
            <a:ln>
              <a:solidFill>
                <a:srgbClr val="15F2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cs typeface="+mn-ea"/>
                <a:sym typeface="+mn-lt"/>
              </a:endParaRPr>
            </a:p>
          </p:txBody>
        </p:sp>
        <p:pic>
          <p:nvPicPr>
            <p:cNvPr id="19467" name="Picture 3" descr="C:\Users\Jonahs\Dropbox\Projects SCOTT\MEET Windows Azure\source\Background\tile-icon-bigdata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11700" y="1485327"/>
              <a:ext cx="876930" cy="87670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TextBox 4"/>
          <p:cNvSpPr txBox="1"/>
          <p:nvPr/>
        </p:nvSpPr>
        <p:spPr>
          <a:xfrm>
            <a:off x="2890739" y="2204971"/>
            <a:ext cx="7010400" cy="138537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全球农业面临资源短缺、劳动力老龄化等问题，数字技术可优化生产，但数据复杂性和技术瓶颈制约发展，需构建适配的大数据与云计算框架。</a:t>
            </a:r>
          </a:p>
        </p:txBody>
      </p:sp>
      <p:sp>
        <p:nvSpPr>
          <p:cNvPr id="6" name="矩形 5"/>
          <p:cNvSpPr/>
          <p:nvPr/>
        </p:nvSpPr>
        <p:spPr>
          <a:xfrm>
            <a:off x="2902744" y="171499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背景</a:t>
            </a:r>
          </a:p>
        </p:txBody>
      </p:sp>
      <p:grpSp>
        <p:nvGrpSpPr>
          <p:cNvPr id="12" name="组合 11"/>
          <p:cNvGrpSpPr/>
          <p:nvPr/>
        </p:nvGrpSpPr>
        <p:grpSpPr bwMode="auto">
          <a:xfrm>
            <a:off x="10032537" y="4554437"/>
            <a:ext cx="1441451" cy="1441451"/>
            <a:chOff x="6804248" y="3219822"/>
            <a:chExt cx="1080120" cy="1080120"/>
          </a:xfrm>
        </p:grpSpPr>
        <p:sp>
          <p:nvSpPr>
            <p:cNvPr id="8" name="椭圆 7"/>
            <p:cNvSpPr/>
            <p:nvPr/>
          </p:nvSpPr>
          <p:spPr>
            <a:xfrm>
              <a:off x="6804248" y="3219822"/>
              <a:ext cx="1080120" cy="1080120"/>
            </a:xfrm>
            <a:prstGeom prst="ellipse">
              <a:avLst/>
            </a:prstGeom>
            <a:noFill/>
            <a:ln>
              <a:solidFill>
                <a:srgbClr val="15F2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9465" name="Freeform 14"/>
            <p:cNvSpPr>
              <a:spLocks noEditPoints="1"/>
            </p:cNvSpPr>
            <p:nvPr/>
          </p:nvSpPr>
          <p:spPr bwMode="black">
            <a:xfrm>
              <a:off x="7126472" y="3566406"/>
              <a:ext cx="501595" cy="445504"/>
            </a:xfrm>
            <a:custGeom>
              <a:avLst/>
              <a:gdLst>
                <a:gd name="T0" fmla="*/ 326037 w 300"/>
                <a:gd name="T1" fmla="*/ 363437 h 266"/>
                <a:gd name="T2" fmla="*/ 327709 w 300"/>
                <a:gd name="T3" fmla="*/ 380186 h 266"/>
                <a:gd name="T4" fmla="*/ 249126 w 300"/>
                <a:gd name="T5" fmla="*/ 445504 h 266"/>
                <a:gd name="T6" fmla="*/ 13376 w 300"/>
                <a:gd name="T7" fmla="*/ 194280 h 266"/>
                <a:gd name="T8" fmla="*/ 0 w 300"/>
                <a:gd name="T9" fmla="*/ 130637 h 266"/>
                <a:gd name="T10" fmla="*/ 130415 w 300"/>
                <a:gd name="T11" fmla="*/ 0 h 266"/>
                <a:gd name="T12" fmla="*/ 250797 w 300"/>
                <a:gd name="T13" fmla="*/ 80392 h 266"/>
                <a:gd name="T14" fmla="*/ 371180 w 300"/>
                <a:gd name="T15" fmla="*/ 0 h 266"/>
                <a:gd name="T16" fmla="*/ 501595 w 300"/>
                <a:gd name="T17" fmla="*/ 130637 h 266"/>
                <a:gd name="T18" fmla="*/ 488219 w 300"/>
                <a:gd name="T19" fmla="*/ 194280 h 266"/>
                <a:gd name="T20" fmla="*/ 438060 w 300"/>
                <a:gd name="T21" fmla="*/ 271322 h 266"/>
                <a:gd name="T22" fmla="*/ 419668 w 300"/>
                <a:gd name="T23" fmla="*/ 269647 h 266"/>
                <a:gd name="T24" fmla="*/ 326037 w 300"/>
                <a:gd name="T25" fmla="*/ 363437 h 266"/>
                <a:gd name="T26" fmla="*/ 429700 w 300"/>
                <a:gd name="T27" fmla="*/ 353388 h 266"/>
                <a:gd name="T28" fmla="*/ 459795 w 300"/>
                <a:gd name="T29" fmla="*/ 353388 h 266"/>
                <a:gd name="T30" fmla="*/ 459795 w 300"/>
                <a:gd name="T31" fmla="*/ 373486 h 266"/>
                <a:gd name="T32" fmla="*/ 429700 w 300"/>
                <a:gd name="T33" fmla="*/ 373486 h 266"/>
                <a:gd name="T34" fmla="*/ 429700 w 300"/>
                <a:gd name="T35" fmla="*/ 403633 h 266"/>
                <a:gd name="T36" fmla="*/ 409636 w 300"/>
                <a:gd name="T37" fmla="*/ 403633 h 266"/>
                <a:gd name="T38" fmla="*/ 409636 w 300"/>
                <a:gd name="T39" fmla="*/ 373486 h 266"/>
                <a:gd name="T40" fmla="*/ 379540 w 300"/>
                <a:gd name="T41" fmla="*/ 373486 h 266"/>
                <a:gd name="T42" fmla="*/ 379540 w 300"/>
                <a:gd name="T43" fmla="*/ 353388 h 266"/>
                <a:gd name="T44" fmla="*/ 409636 w 300"/>
                <a:gd name="T45" fmla="*/ 353388 h 266"/>
                <a:gd name="T46" fmla="*/ 409636 w 300"/>
                <a:gd name="T47" fmla="*/ 323242 h 266"/>
                <a:gd name="T48" fmla="*/ 429700 w 300"/>
                <a:gd name="T49" fmla="*/ 323242 h 266"/>
                <a:gd name="T50" fmla="*/ 429700 w 300"/>
                <a:gd name="T51" fmla="*/ 353388 h 266"/>
                <a:gd name="T52" fmla="*/ 419668 w 300"/>
                <a:gd name="T53" fmla="*/ 432105 h 266"/>
                <a:gd name="T54" fmla="*/ 351116 w 300"/>
                <a:gd name="T55" fmla="*/ 363437 h 266"/>
                <a:gd name="T56" fmla="*/ 419668 w 300"/>
                <a:gd name="T57" fmla="*/ 294770 h 266"/>
                <a:gd name="T58" fmla="*/ 489891 w 300"/>
                <a:gd name="T59" fmla="*/ 363437 h 266"/>
                <a:gd name="T60" fmla="*/ 419668 w 300"/>
                <a:gd name="T61" fmla="*/ 432105 h 266"/>
                <a:gd name="T62" fmla="*/ 419668 w 300"/>
                <a:gd name="T63" fmla="*/ 281371 h 266"/>
                <a:gd name="T64" fmla="*/ 339413 w 300"/>
                <a:gd name="T65" fmla="*/ 363437 h 266"/>
                <a:gd name="T66" fmla="*/ 419668 w 300"/>
                <a:gd name="T67" fmla="*/ 445504 h 266"/>
                <a:gd name="T68" fmla="*/ 501595 w 300"/>
                <a:gd name="T69" fmla="*/ 363437 h 266"/>
                <a:gd name="T70" fmla="*/ 419668 w 300"/>
                <a:gd name="T71" fmla="*/ 281371 h 26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0"/>
                <a:gd name="T109" fmla="*/ 0 h 266"/>
                <a:gd name="T110" fmla="*/ 300 w 300"/>
                <a:gd name="T111" fmla="*/ 266 h 26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0" h="266">
                  <a:moveTo>
                    <a:pt x="195" y="217"/>
                  </a:moveTo>
                  <a:cubicBezTo>
                    <a:pt x="195" y="221"/>
                    <a:pt x="195" y="224"/>
                    <a:pt x="196" y="227"/>
                  </a:cubicBezTo>
                  <a:cubicBezTo>
                    <a:pt x="170" y="250"/>
                    <a:pt x="149" y="266"/>
                    <a:pt x="149" y="266"/>
                  </a:cubicBezTo>
                  <a:cubicBezTo>
                    <a:pt x="149" y="266"/>
                    <a:pt x="32" y="176"/>
                    <a:pt x="8" y="116"/>
                  </a:cubicBezTo>
                  <a:cubicBezTo>
                    <a:pt x="4" y="106"/>
                    <a:pt x="0" y="90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10" y="0"/>
                    <a:pt x="138" y="20"/>
                    <a:pt x="150" y="48"/>
                  </a:cubicBezTo>
                  <a:cubicBezTo>
                    <a:pt x="162" y="20"/>
                    <a:pt x="190" y="0"/>
                    <a:pt x="222" y="0"/>
                  </a:cubicBezTo>
                  <a:cubicBezTo>
                    <a:pt x="265" y="0"/>
                    <a:pt x="300" y="35"/>
                    <a:pt x="300" y="78"/>
                  </a:cubicBezTo>
                  <a:cubicBezTo>
                    <a:pt x="300" y="91"/>
                    <a:pt x="296" y="106"/>
                    <a:pt x="292" y="116"/>
                  </a:cubicBezTo>
                  <a:cubicBezTo>
                    <a:pt x="287" y="130"/>
                    <a:pt x="275" y="146"/>
                    <a:pt x="262" y="162"/>
                  </a:cubicBezTo>
                  <a:cubicBezTo>
                    <a:pt x="258" y="161"/>
                    <a:pt x="255" y="161"/>
                    <a:pt x="251" y="161"/>
                  </a:cubicBezTo>
                  <a:cubicBezTo>
                    <a:pt x="220" y="161"/>
                    <a:pt x="195" y="186"/>
                    <a:pt x="195" y="217"/>
                  </a:cubicBezTo>
                  <a:close/>
                  <a:moveTo>
                    <a:pt x="257" y="211"/>
                  </a:moveTo>
                  <a:cubicBezTo>
                    <a:pt x="275" y="211"/>
                    <a:pt x="275" y="211"/>
                    <a:pt x="275" y="211"/>
                  </a:cubicBezTo>
                  <a:cubicBezTo>
                    <a:pt x="275" y="223"/>
                    <a:pt x="275" y="223"/>
                    <a:pt x="275" y="223"/>
                  </a:cubicBezTo>
                  <a:cubicBezTo>
                    <a:pt x="257" y="223"/>
                    <a:pt x="257" y="223"/>
                    <a:pt x="257" y="223"/>
                  </a:cubicBezTo>
                  <a:cubicBezTo>
                    <a:pt x="257" y="241"/>
                    <a:pt x="257" y="241"/>
                    <a:pt x="257" y="241"/>
                  </a:cubicBezTo>
                  <a:cubicBezTo>
                    <a:pt x="245" y="241"/>
                    <a:pt x="245" y="241"/>
                    <a:pt x="245" y="241"/>
                  </a:cubicBezTo>
                  <a:cubicBezTo>
                    <a:pt x="245" y="223"/>
                    <a:pt x="245" y="223"/>
                    <a:pt x="245" y="223"/>
                  </a:cubicBezTo>
                  <a:cubicBezTo>
                    <a:pt x="227" y="223"/>
                    <a:pt x="227" y="223"/>
                    <a:pt x="227" y="223"/>
                  </a:cubicBezTo>
                  <a:cubicBezTo>
                    <a:pt x="227" y="211"/>
                    <a:pt x="227" y="211"/>
                    <a:pt x="227" y="211"/>
                  </a:cubicBezTo>
                  <a:cubicBezTo>
                    <a:pt x="245" y="211"/>
                    <a:pt x="245" y="211"/>
                    <a:pt x="245" y="211"/>
                  </a:cubicBezTo>
                  <a:cubicBezTo>
                    <a:pt x="245" y="193"/>
                    <a:pt x="245" y="193"/>
                    <a:pt x="245" y="193"/>
                  </a:cubicBezTo>
                  <a:cubicBezTo>
                    <a:pt x="257" y="193"/>
                    <a:pt x="257" y="193"/>
                    <a:pt x="257" y="193"/>
                  </a:cubicBezTo>
                  <a:lnTo>
                    <a:pt x="257" y="211"/>
                  </a:lnTo>
                  <a:close/>
                  <a:moveTo>
                    <a:pt x="251" y="258"/>
                  </a:moveTo>
                  <a:cubicBezTo>
                    <a:pt x="229" y="258"/>
                    <a:pt x="210" y="240"/>
                    <a:pt x="210" y="217"/>
                  </a:cubicBezTo>
                  <a:cubicBezTo>
                    <a:pt x="210" y="194"/>
                    <a:pt x="229" y="176"/>
                    <a:pt x="251" y="176"/>
                  </a:cubicBezTo>
                  <a:cubicBezTo>
                    <a:pt x="274" y="176"/>
                    <a:pt x="293" y="194"/>
                    <a:pt x="293" y="217"/>
                  </a:cubicBezTo>
                  <a:cubicBezTo>
                    <a:pt x="293" y="240"/>
                    <a:pt x="274" y="258"/>
                    <a:pt x="251" y="258"/>
                  </a:cubicBezTo>
                  <a:close/>
                  <a:moveTo>
                    <a:pt x="251" y="168"/>
                  </a:moveTo>
                  <a:cubicBezTo>
                    <a:pt x="224" y="168"/>
                    <a:pt x="203" y="190"/>
                    <a:pt x="203" y="217"/>
                  </a:cubicBezTo>
                  <a:cubicBezTo>
                    <a:pt x="203" y="244"/>
                    <a:pt x="224" y="266"/>
                    <a:pt x="251" y="266"/>
                  </a:cubicBezTo>
                  <a:cubicBezTo>
                    <a:pt x="278" y="266"/>
                    <a:pt x="300" y="244"/>
                    <a:pt x="300" y="217"/>
                  </a:cubicBezTo>
                  <a:cubicBezTo>
                    <a:pt x="300" y="190"/>
                    <a:pt x="278" y="168"/>
                    <a:pt x="251" y="168"/>
                  </a:cubicBezTo>
                  <a:close/>
                </a:path>
              </a:pathLst>
            </a:custGeom>
            <a:solidFill>
              <a:srgbClr val="15F2FA"/>
            </a:solidFill>
            <a:ln w="9525">
              <a:noFill/>
              <a:round/>
            </a:ln>
          </p:spPr>
          <p:txBody>
            <a:bodyPr lIns="111924" tIns="55963" rIns="111924" bIns="55963"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831638" y="4605238"/>
            <a:ext cx="7008284" cy="9021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大数据和云计算能提升资源利用率、降低损耗，助力小农户精准决策，推动农业高效可持续发展。</a:t>
            </a:r>
          </a:p>
        </p:txBody>
      </p:sp>
      <p:sp>
        <p:nvSpPr>
          <p:cNvPr id="11" name="矩形 10"/>
          <p:cNvSpPr/>
          <p:nvPr/>
        </p:nvSpPr>
        <p:spPr>
          <a:xfrm>
            <a:off x="8843408" y="414357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意义</a:t>
            </a:r>
          </a:p>
        </p:txBody>
      </p:sp>
    </p:spTree>
  </p:cSld>
  <p:clrMapOvr>
    <a:masterClrMapping/>
  </p:clrMapOvr>
  <p:transition advTm="6973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1760" y="-17225"/>
            <a:ext cx="8908481" cy="6892450"/>
          </a:xfrm>
          <a:prstGeom prst="rect">
            <a:avLst/>
          </a:prstGeom>
        </p:spPr>
      </p:pic>
      <p:sp>
        <p:nvSpPr>
          <p:cNvPr id="3" name="TextBox 13"/>
          <p:cNvSpPr txBox="1"/>
          <p:nvPr/>
        </p:nvSpPr>
        <p:spPr>
          <a:xfrm>
            <a:off x="2309255" y="3594447"/>
            <a:ext cx="7827659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3500" dirty="0">
                <a:solidFill>
                  <a:srgbClr val="15F2FA"/>
                </a:solidFill>
                <a:cs typeface="+mn-ea"/>
                <a:sym typeface="+mn-lt"/>
              </a:rPr>
              <a:t>大数据、</a:t>
            </a:r>
            <a:r>
              <a:rPr lang="en-US" altLang="zh-CN" sz="3500" dirty="0">
                <a:solidFill>
                  <a:srgbClr val="15F2FA"/>
                </a:solidFill>
                <a:cs typeface="+mn-ea"/>
                <a:sym typeface="+mn-lt"/>
              </a:rPr>
              <a:t>Hadoop</a:t>
            </a:r>
            <a:r>
              <a:rPr lang="zh-CN" altLang="en-US" sz="3500" dirty="0">
                <a:solidFill>
                  <a:srgbClr val="15F2FA"/>
                </a:solidFill>
                <a:cs typeface="+mn-ea"/>
                <a:sym typeface="+mn-lt"/>
              </a:rPr>
              <a:t>、</a:t>
            </a:r>
            <a:r>
              <a:rPr lang="en-US" altLang="zh-CN" sz="3500" dirty="0">
                <a:solidFill>
                  <a:srgbClr val="15F2FA"/>
                </a:solidFill>
                <a:cs typeface="+mn-ea"/>
                <a:sym typeface="+mn-lt"/>
              </a:rPr>
              <a:t>Spark</a:t>
            </a:r>
            <a:endParaRPr lang="zh-CN" altLang="en-US" sz="3500" dirty="0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5237819" y="1504690"/>
            <a:ext cx="1973685" cy="1982018"/>
          </a:xfrm>
          <a:prstGeom prst="ellipse">
            <a:avLst/>
          </a:prstGeom>
          <a:solidFill>
            <a:srgbClr val="15F2F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843" tIns="45422" rIns="90843" bIns="45422" numCol="1" rtlCol="0" anchor="t" anchorCtr="0" compatLnSpc="1"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Freeform 8"/>
          <p:cNvSpPr/>
          <p:nvPr/>
        </p:nvSpPr>
        <p:spPr bwMode="auto">
          <a:xfrm>
            <a:off x="5140594" y="2516937"/>
            <a:ext cx="2168135" cy="1097262"/>
          </a:xfrm>
          <a:custGeom>
            <a:avLst/>
            <a:gdLst>
              <a:gd name="T0" fmla="*/ 3963 w 3963"/>
              <a:gd name="T1" fmla="*/ 0 h 1997"/>
              <a:gd name="T2" fmla="*/ 3963 w 3963"/>
              <a:gd name="T3" fmla="*/ 16 h 1997"/>
              <a:gd name="T4" fmla="*/ 1982 w 3963"/>
              <a:gd name="T5" fmla="*/ 1997 h 1997"/>
              <a:gd name="T6" fmla="*/ 0 w 3963"/>
              <a:gd name="T7" fmla="*/ 16 h 1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63" h="1997">
                <a:moveTo>
                  <a:pt x="3963" y="0"/>
                </a:moveTo>
                <a:cubicBezTo>
                  <a:pt x="3963" y="5"/>
                  <a:pt x="3963" y="11"/>
                  <a:pt x="3963" y="16"/>
                </a:cubicBezTo>
                <a:cubicBezTo>
                  <a:pt x="3963" y="1110"/>
                  <a:pt x="3076" y="1997"/>
                  <a:pt x="1982" y="1997"/>
                </a:cubicBezTo>
                <a:cubicBezTo>
                  <a:pt x="888" y="1997"/>
                  <a:pt x="0" y="1110"/>
                  <a:pt x="0" y="16"/>
                </a:cubicBezTo>
              </a:path>
            </a:pathLst>
          </a:custGeom>
          <a:noFill/>
          <a:ln w="8" cap="flat" cmpd="sng">
            <a:solidFill>
              <a:srgbClr val="4E4B49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</a:extLst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7246567" y="2480278"/>
            <a:ext cx="122227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5086039" y="2480278"/>
            <a:ext cx="120840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TextBox 13"/>
          <p:cNvSpPr txBox="1">
            <a:spLocks noChangeArrowheads="1"/>
          </p:cNvSpPr>
          <p:nvPr/>
        </p:nvSpPr>
        <p:spPr bwMode="auto">
          <a:xfrm>
            <a:off x="5380579" y="1543551"/>
            <a:ext cx="1685011" cy="1435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sz="8740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endParaRPr lang="en-US" altLang="en-US" sz="8740" b="1" dirty="0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5380579" y="2746750"/>
            <a:ext cx="1685011" cy="530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45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技术基础</a:t>
            </a:r>
          </a:p>
        </p:txBody>
      </p:sp>
    </p:spTree>
  </p:cSld>
  <p:clrMapOvr>
    <a:masterClrMapping/>
  </p:clrMapOvr>
  <p:transition advTm="599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0.00312 0.04328 L -0.01614 0.09305 C -0.02422 0.10926 -0.03776 0.13009 -0.05 0.14097 C -0.06198 0.15208 -0.07382 0.16018 -0.08776 0.15949 C -0.10755 0.15949 -0.12174 0.14815 -0.13359 0.13773 C -0.14557 0.12731 -0.15299 0.11203 -0.15976 0.09676 L -0.17461 0.04629 L -0.17955 2.22222E-6 " pathEditMode="relative" rAng="0" ptsTypes="AAAAAAAAA">
                                      <p:cBhvr>
                                        <p:cTn id="30" dur="1000" spd="-99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84" y="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 autoUpdateAnimBg="0"/>
      <p:bldP spid="6" grpId="0" bldLvl="0" animBg="1"/>
      <p:bldP spid="7" grpId="0" bldLvl="0" animBg="1" autoUpdateAnimBg="0"/>
      <p:bldP spid="7" grpId="1" bldLvl="0" animBg="1" autoUpdateAnimBg="0"/>
      <p:bldP spid="8" grpId="0" bldLvl="0" animBg="1" autoUpdateAnimBg="0"/>
      <p:bldP spid="9" grpId="0" autoUpdateAnimBg="0"/>
      <p:bldP spid="1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0970" y="226695"/>
            <a:ext cx="389064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大数据特征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799888"/>
            <a:ext cx="12192000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菱形 15"/>
          <p:cNvSpPr/>
          <p:nvPr/>
        </p:nvSpPr>
        <p:spPr>
          <a:xfrm>
            <a:off x="623392" y="1412776"/>
            <a:ext cx="5088565" cy="5088565"/>
          </a:xfrm>
          <a:prstGeom prst="diamond">
            <a:avLst/>
          </a:prstGeom>
          <a:noFill/>
          <a:ln>
            <a:solidFill>
              <a:srgbClr val="15F2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365379" y="2084851"/>
            <a:ext cx="1824203" cy="1824203"/>
          </a:xfrm>
          <a:prstGeom prst="roundRect">
            <a:avLst/>
          </a:prstGeom>
          <a:solidFill>
            <a:srgbClr val="15F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199456" y="4101075"/>
            <a:ext cx="1824203" cy="1824203"/>
          </a:xfrm>
          <a:prstGeom prst="roundRect">
            <a:avLst/>
          </a:prstGeom>
          <a:solidFill>
            <a:srgbClr val="15F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199456" y="2084851"/>
            <a:ext cx="1824203" cy="1824203"/>
          </a:xfrm>
          <a:prstGeom prst="roundRect">
            <a:avLst/>
          </a:prstGeom>
          <a:solidFill>
            <a:srgbClr val="15F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365379" y="4101075"/>
            <a:ext cx="1824203" cy="1824203"/>
          </a:xfrm>
          <a:prstGeom prst="roundRect">
            <a:avLst/>
          </a:prstGeom>
          <a:solidFill>
            <a:srgbClr val="15F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98974" y="2481570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6000" b="1">
                <a:solidFill>
                  <a:srgbClr val="064959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规模</a:t>
            </a:r>
            <a:endParaRPr lang="en-US" altLang="zh-CN" sz="6000" b="1" dirty="0">
              <a:solidFill>
                <a:srgbClr val="064959"/>
              </a:solidFill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6288021" y="2248898"/>
            <a:ext cx="47287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规模大（</a:t>
            </a:r>
            <a:r>
              <a:rPr lang="en-US" altLang="zh-CN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Volume</a:t>
            </a:r>
            <a:r>
              <a:rPr lang="zh-CN" altLang="en-US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），数据量达</a:t>
            </a:r>
            <a:r>
              <a:rPr lang="en-US" altLang="zh-CN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PB</a:t>
            </a:r>
            <a:r>
              <a:rPr lang="zh-CN" altLang="en-US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级以上</a:t>
            </a:r>
            <a:endParaRPr lang="en-US" altLang="zh-CN" sz="2400" dirty="0">
              <a:solidFill>
                <a:srgbClr val="15F2FA"/>
              </a:solidFill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种类多（</a:t>
            </a:r>
            <a:r>
              <a:rPr lang="en-US" altLang="zh-CN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Variety</a:t>
            </a:r>
            <a:r>
              <a:rPr lang="zh-CN" altLang="en-US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），含结构化、非结构化数据</a:t>
            </a:r>
            <a:endParaRPr lang="en-US" altLang="zh-CN" sz="2400" dirty="0">
              <a:solidFill>
                <a:srgbClr val="15F2FA"/>
              </a:solidFill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处理快（</a:t>
            </a:r>
            <a:r>
              <a:rPr lang="en-US" altLang="zh-CN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Velocity</a:t>
            </a:r>
            <a:r>
              <a:rPr lang="zh-CN" altLang="en-US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），需实时分析</a:t>
            </a:r>
            <a:endParaRPr lang="en-US" altLang="zh-CN" sz="2400" dirty="0">
              <a:solidFill>
                <a:srgbClr val="15F2FA"/>
              </a:solidFill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价值高（</a:t>
            </a:r>
            <a:r>
              <a:rPr lang="en-US" altLang="zh-CN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Veracity</a:t>
            </a:r>
            <a:r>
              <a:rPr lang="zh-CN" altLang="en-US" sz="2400" dirty="0">
                <a:solidFill>
                  <a:srgbClr val="15F2FA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），需挖掘有效信息。农业数据来源多样，关联性强，需高效处理。</a:t>
            </a:r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C7F1D271-BA36-A65A-626D-D4F4CB9F9BD8}"/>
              </a:ext>
            </a:extLst>
          </p:cNvPr>
          <p:cNvSpPr txBox="1"/>
          <p:nvPr/>
        </p:nvSpPr>
        <p:spPr>
          <a:xfrm>
            <a:off x="1249782" y="4427022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6000" b="1" dirty="0">
                <a:solidFill>
                  <a:srgbClr val="064959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种类</a:t>
            </a:r>
            <a:endParaRPr lang="en-US" altLang="zh-CN" sz="6000" b="1" dirty="0">
              <a:solidFill>
                <a:srgbClr val="064959"/>
              </a:solidFill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" name="TextBox 21">
            <a:extLst>
              <a:ext uri="{FF2B5EF4-FFF2-40B4-BE49-F238E27FC236}">
                <a16:creationId xmlns:a16="http://schemas.microsoft.com/office/drawing/2014/main" id="{DC42677F-24D9-81B6-2672-A86C2E0C912E}"/>
              </a:ext>
            </a:extLst>
          </p:cNvPr>
          <p:cNvSpPr txBox="1"/>
          <p:nvPr/>
        </p:nvSpPr>
        <p:spPr>
          <a:xfrm>
            <a:off x="3444224" y="4474116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6000" b="1" dirty="0">
                <a:solidFill>
                  <a:srgbClr val="064959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价值</a:t>
            </a:r>
            <a:endParaRPr lang="en-US" altLang="zh-CN" sz="6000" b="1" dirty="0">
              <a:solidFill>
                <a:srgbClr val="064959"/>
              </a:solidFill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6" name="TextBox 21">
            <a:extLst>
              <a:ext uri="{FF2B5EF4-FFF2-40B4-BE49-F238E27FC236}">
                <a16:creationId xmlns:a16="http://schemas.microsoft.com/office/drawing/2014/main" id="{3FECBB57-6E14-471E-2747-B10A393500F4}"/>
              </a:ext>
            </a:extLst>
          </p:cNvPr>
          <p:cNvSpPr txBox="1"/>
          <p:nvPr/>
        </p:nvSpPr>
        <p:spPr>
          <a:xfrm>
            <a:off x="3415705" y="2472313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6000" b="1" dirty="0">
                <a:solidFill>
                  <a:srgbClr val="064959"/>
                </a:solidFill>
                <a:latin typeface="等线" panose="020F0502020204030204"/>
                <a:ea typeface="等线" panose="02010600030101010101" pitchFamily="2" charset="-122"/>
                <a:cs typeface="+mn-ea"/>
                <a:sym typeface="+mn-lt"/>
              </a:rPr>
              <a:t>速度</a:t>
            </a:r>
            <a:endParaRPr lang="en-US" altLang="zh-CN" sz="6000" b="1" dirty="0">
              <a:solidFill>
                <a:srgbClr val="064959"/>
              </a:solidFill>
              <a:latin typeface="等线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advTm="571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bldLvl="0" animBg="1"/>
      <p:bldP spid="17" grpId="0" bldLvl="0" animBg="1"/>
      <p:bldP spid="19" grpId="0" bldLvl="0" animBg="1"/>
      <p:bldP spid="20" grpId="0" bldLvl="0" animBg="1"/>
      <p:bldP spid="21" grpId="0" bldLvl="0" animBg="1"/>
      <p:bldP spid="22" grpId="0"/>
      <p:bldP spid="32" grpId="0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0970" y="226695"/>
            <a:ext cx="389064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云计算服务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799888"/>
            <a:ext cx="12192000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/>
          <p:cNvSpPr/>
          <p:nvPr/>
        </p:nvSpPr>
        <p:spPr>
          <a:xfrm>
            <a:off x="1231943" y="2437641"/>
            <a:ext cx="3150919" cy="3150919"/>
          </a:xfrm>
          <a:prstGeom prst="ellipse">
            <a:avLst/>
          </a:prstGeom>
          <a:noFill/>
          <a:ln cmpd="dbl">
            <a:solidFill>
              <a:srgbClr val="15F2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1079209" y="2284907"/>
            <a:ext cx="3456384" cy="3456384"/>
          </a:xfrm>
          <a:prstGeom prst="ellipse">
            <a:avLst/>
          </a:prstGeom>
          <a:noFill/>
          <a:ln cmpd="sng">
            <a:solidFill>
              <a:srgbClr val="15F2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9921" y="3149004"/>
            <a:ext cx="1219556" cy="1715001"/>
          </a:xfrm>
          <a:prstGeom prst="rect">
            <a:avLst/>
          </a:prstGeom>
        </p:spPr>
      </p:pic>
      <p:cxnSp>
        <p:nvCxnSpPr>
          <p:cNvPr id="54" name="直接连接符 53"/>
          <p:cNvCxnSpPr>
            <a:stCxn id="52" idx="0"/>
            <a:endCxn id="59" idx="1"/>
          </p:cNvCxnSpPr>
          <p:nvPr/>
        </p:nvCxnSpPr>
        <p:spPr>
          <a:xfrm flipV="1">
            <a:off x="2807401" y="2269517"/>
            <a:ext cx="2800145" cy="1539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52" idx="6"/>
            <a:endCxn id="61" idx="2"/>
          </p:cNvCxnSpPr>
          <p:nvPr/>
        </p:nvCxnSpPr>
        <p:spPr>
          <a:xfrm flipV="1">
            <a:off x="4535594" y="4006503"/>
            <a:ext cx="1056117" cy="6596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52" idx="4"/>
            <a:endCxn id="64" idx="2"/>
          </p:cNvCxnSpPr>
          <p:nvPr/>
        </p:nvCxnSpPr>
        <p:spPr>
          <a:xfrm>
            <a:off x="2807402" y="5741291"/>
            <a:ext cx="2784309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/>
        </p:nvGrpSpPr>
        <p:grpSpPr>
          <a:xfrm>
            <a:off x="5591713" y="1804853"/>
            <a:ext cx="960107" cy="960106"/>
            <a:chOff x="3995936" y="1495374"/>
            <a:chExt cx="720080" cy="720080"/>
          </a:xfrm>
        </p:grpSpPr>
        <p:sp>
          <p:nvSpPr>
            <p:cNvPr id="58" name="椭圆 57"/>
            <p:cNvSpPr/>
            <p:nvPr/>
          </p:nvSpPr>
          <p:spPr>
            <a:xfrm>
              <a:off x="3995936" y="1495374"/>
              <a:ext cx="720080" cy="720080"/>
            </a:xfrm>
            <a:prstGeom prst="ellipse">
              <a:avLst/>
            </a:prstGeom>
            <a:noFill/>
            <a:ln>
              <a:solidFill>
                <a:srgbClr val="15F2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007811" y="1532248"/>
              <a:ext cx="653063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solidFill>
                    <a:srgbClr val="15F2FA"/>
                  </a:solidFill>
                  <a:cs typeface="+mn-ea"/>
                  <a:sym typeface="+mn-lt"/>
                </a:rPr>
                <a:t>01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591713" y="3526450"/>
            <a:ext cx="960107" cy="960107"/>
            <a:chOff x="3995936" y="2786571"/>
            <a:chExt cx="720080" cy="720080"/>
          </a:xfrm>
        </p:grpSpPr>
        <p:sp>
          <p:nvSpPr>
            <p:cNvPr id="61" name="椭圆 60"/>
            <p:cNvSpPr/>
            <p:nvPr/>
          </p:nvSpPr>
          <p:spPr>
            <a:xfrm>
              <a:off x="3995936" y="2786571"/>
              <a:ext cx="720080" cy="720080"/>
            </a:xfrm>
            <a:prstGeom prst="ellipse">
              <a:avLst/>
            </a:prstGeom>
            <a:noFill/>
            <a:ln>
              <a:solidFill>
                <a:srgbClr val="15F2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007811" y="2860320"/>
              <a:ext cx="653063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solidFill>
                    <a:srgbClr val="15F2FA"/>
                  </a:solidFill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5591711" y="5261236"/>
            <a:ext cx="960107" cy="960106"/>
            <a:chOff x="3995936" y="4087662"/>
            <a:chExt cx="720080" cy="720080"/>
          </a:xfrm>
        </p:grpSpPr>
        <p:sp>
          <p:nvSpPr>
            <p:cNvPr id="64" name="椭圆 63"/>
            <p:cNvSpPr/>
            <p:nvPr/>
          </p:nvSpPr>
          <p:spPr>
            <a:xfrm>
              <a:off x="3995936" y="4087662"/>
              <a:ext cx="720080" cy="720080"/>
            </a:xfrm>
            <a:prstGeom prst="ellipse">
              <a:avLst/>
            </a:prstGeom>
            <a:noFill/>
            <a:ln>
              <a:solidFill>
                <a:srgbClr val="15F2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995936" y="4124536"/>
              <a:ext cx="653063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solidFill>
                    <a:srgbClr val="15F2FA"/>
                  </a:solidFill>
                  <a:cs typeface="+mn-ea"/>
                  <a:sym typeface="+mn-lt"/>
                </a:rPr>
                <a:t>03</a:t>
              </a:r>
            </a:p>
          </p:txBody>
        </p:sp>
      </p:grpSp>
      <p:sp>
        <p:nvSpPr>
          <p:cNvPr id="66" name="TextBox 65"/>
          <p:cNvSpPr txBox="1"/>
          <p:nvPr/>
        </p:nvSpPr>
        <p:spPr bwMode="auto">
          <a:xfrm>
            <a:off x="6779626" y="2188897"/>
            <a:ext cx="4728759" cy="78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5F2FA"/>
                </a:solidFill>
                <a:cs typeface="+mn-ea"/>
                <a:sym typeface="+mn-lt"/>
              </a:rPr>
              <a:t>提供虚拟化硬件资源（如服务器、存储），用户自管操作系统及以上层</a:t>
            </a:r>
          </a:p>
        </p:txBody>
      </p:sp>
      <p:sp>
        <p:nvSpPr>
          <p:cNvPr id="67" name="矩形 66"/>
          <p:cNvSpPr/>
          <p:nvPr/>
        </p:nvSpPr>
        <p:spPr bwMode="auto">
          <a:xfrm>
            <a:off x="6798779" y="1700808"/>
            <a:ext cx="2694516" cy="4205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135" b="1" dirty="0">
                <a:solidFill>
                  <a:srgbClr val="15F2FA"/>
                </a:solidFill>
                <a:cs typeface="+mn-ea"/>
                <a:sym typeface="+mn-lt"/>
              </a:rPr>
              <a:t>IaaS</a:t>
            </a:r>
            <a:endParaRPr lang="zh-CN" altLang="en-US" sz="2135" b="1" dirty="0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6815614" y="3829113"/>
            <a:ext cx="4728759" cy="78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5F2FA"/>
                </a:solidFill>
                <a:cs typeface="+mn-ea"/>
                <a:sym typeface="+mn-lt"/>
              </a:rPr>
              <a:t>提供开发平台（含工具、环境），用户专注应用开发，无需管理底层设施</a:t>
            </a:r>
          </a:p>
        </p:txBody>
      </p:sp>
      <p:sp>
        <p:nvSpPr>
          <p:cNvPr id="69" name="矩形 68"/>
          <p:cNvSpPr/>
          <p:nvPr/>
        </p:nvSpPr>
        <p:spPr bwMode="auto">
          <a:xfrm>
            <a:off x="6834767" y="3341024"/>
            <a:ext cx="2694516" cy="4205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135" b="1" dirty="0">
                <a:solidFill>
                  <a:srgbClr val="15F2FA"/>
                </a:solidFill>
                <a:cs typeface="+mn-ea"/>
                <a:sym typeface="+mn-lt"/>
              </a:rPr>
              <a:t>PaaS</a:t>
            </a:r>
            <a:endParaRPr lang="zh-CN" altLang="en-US" sz="2135" b="1" dirty="0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70" name="TextBox 69"/>
          <p:cNvSpPr txBox="1"/>
          <p:nvPr/>
        </p:nvSpPr>
        <p:spPr bwMode="auto">
          <a:xfrm>
            <a:off x="6839850" y="5557305"/>
            <a:ext cx="4728759" cy="78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5F2FA"/>
                </a:solidFill>
                <a:cs typeface="+mn-ea"/>
                <a:sym typeface="+mn-lt"/>
              </a:rPr>
              <a:t>直接提供云端软件应用，用户通过浏览器使用，无需安装维护</a:t>
            </a:r>
          </a:p>
        </p:txBody>
      </p:sp>
      <p:sp>
        <p:nvSpPr>
          <p:cNvPr id="71" name="矩形 70"/>
          <p:cNvSpPr/>
          <p:nvPr/>
        </p:nvSpPr>
        <p:spPr bwMode="auto">
          <a:xfrm>
            <a:off x="6859003" y="5069216"/>
            <a:ext cx="2694516" cy="4205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135" b="1" dirty="0">
                <a:solidFill>
                  <a:srgbClr val="15F2FA"/>
                </a:solidFill>
                <a:cs typeface="+mn-ea"/>
                <a:sym typeface="+mn-lt"/>
              </a:rPr>
              <a:t>SaaS</a:t>
            </a:r>
            <a:endParaRPr lang="zh-CN" altLang="en-US" sz="2135" b="1" dirty="0">
              <a:solidFill>
                <a:srgbClr val="15F2FA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advTm="13198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500"/>
                            </p:stCondLst>
                            <p:childTnLst>
                              <p:par>
                                <p:cTn id="7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50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1" grpId="0" bldLvl="0" animBg="1"/>
      <p:bldP spid="52" grpId="0" bldLvl="0" animBg="1"/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0970" y="226695"/>
            <a:ext cx="389064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分布式系统挑战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799888"/>
            <a:ext cx="12192000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 bwMode="auto">
          <a:xfrm>
            <a:off x="2029940" y="2533452"/>
            <a:ext cx="1109133" cy="1056217"/>
            <a:chOff x="1215154" y="1491630"/>
            <a:chExt cx="831692" cy="792088"/>
          </a:xfrm>
        </p:grpSpPr>
        <p:sp>
          <p:nvSpPr>
            <p:cNvPr id="6" name="正五边形 5"/>
            <p:cNvSpPr/>
            <p:nvPr/>
          </p:nvSpPr>
          <p:spPr>
            <a:xfrm>
              <a:off x="1215154" y="1491630"/>
              <a:ext cx="831692" cy="792088"/>
            </a:xfrm>
            <a:prstGeom prst="pentagon">
              <a:avLst/>
            </a:prstGeom>
            <a:noFill/>
            <a:ln>
              <a:solidFill>
                <a:srgbClr val="15F2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Freeform 72"/>
            <p:cNvSpPr>
              <a:spLocks noEditPoints="1"/>
            </p:cNvSpPr>
            <p:nvPr/>
          </p:nvSpPr>
          <p:spPr bwMode="auto">
            <a:xfrm>
              <a:off x="1410379" y="1688461"/>
              <a:ext cx="484096" cy="485729"/>
            </a:xfrm>
            <a:custGeom>
              <a:avLst/>
              <a:gdLst>
                <a:gd name="T0" fmla="*/ 337 w 411"/>
                <a:gd name="T1" fmla="*/ 198 h 412"/>
                <a:gd name="T2" fmla="*/ 284 w 411"/>
                <a:gd name="T3" fmla="*/ 220 h 412"/>
                <a:gd name="T4" fmla="*/ 249 w 411"/>
                <a:gd name="T5" fmla="*/ 185 h 412"/>
                <a:gd name="T6" fmla="*/ 283 w 411"/>
                <a:gd name="T7" fmla="*/ 107 h 412"/>
                <a:gd name="T8" fmla="*/ 176 w 411"/>
                <a:gd name="T9" fmla="*/ 0 h 412"/>
                <a:gd name="T10" fmla="*/ 68 w 411"/>
                <a:gd name="T11" fmla="*/ 107 h 412"/>
                <a:gd name="T12" fmla="*/ 116 w 411"/>
                <a:gd name="T13" fmla="*/ 196 h 412"/>
                <a:gd name="T14" fmla="*/ 96 w 411"/>
                <a:gd name="T15" fmla="*/ 266 h 412"/>
                <a:gd name="T16" fmla="*/ 74 w 411"/>
                <a:gd name="T17" fmla="*/ 263 h 412"/>
                <a:gd name="T18" fmla="*/ 0 w 411"/>
                <a:gd name="T19" fmla="*/ 337 h 412"/>
                <a:gd name="T20" fmla="*/ 74 w 411"/>
                <a:gd name="T21" fmla="*/ 412 h 412"/>
                <a:gd name="T22" fmla="*/ 149 w 411"/>
                <a:gd name="T23" fmla="*/ 337 h 412"/>
                <a:gd name="T24" fmla="*/ 110 w 411"/>
                <a:gd name="T25" fmla="*/ 272 h 412"/>
                <a:gd name="T26" fmla="*/ 130 w 411"/>
                <a:gd name="T27" fmla="*/ 204 h 412"/>
                <a:gd name="T28" fmla="*/ 176 w 411"/>
                <a:gd name="T29" fmla="*/ 214 h 412"/>
                <a:gd name="T30" fmla="*/ 238 w 411"/>
                <a:gd name="T31" fmla="*/ 195 h 412"/>
                <a:gd name="T32" fmla="*/ 275 w 411"/>
                <a:gd name="T33" fmla="*/ 232 h 412"/>
                <a:gd name="T34" fmla="*/ 262 w 411"/>
                <a:gd name="T35" fmla="*/ 273 h 412"/>
                <a:gd name="T36" fmla="*/ 337 w 411"/>
                <a:gd name="T37" fmla="*/ 347 h 412"/>
                <a:gd name="T38" fmla="*/ 411 w 411"/>
                <a:gd name="T39" fmla="*/ 273 h 412"/>
                <a:gd name="T40" fmla="*/ 337 w 411"/>
                <a:gd name="T41" fmla="*/ 198 h 412"/>
                <a:gd name="T42" fmla="*/ 134 w 411"/>
                <a:gd name="T43" fmla="*/ 337 h 412"/>
                <a:gd name="T44" fmla="*/ 74 w 411"/>
                <a:gd name="T45" fmla="*/ 397 h 412"/>
                <a:gd name="T46" fmla="*/ 14 w 411"/>
                <a:gd name="T47" fmla="*/ 337 h 412"/>
                <a:gd name="T48" fmla="*/ 74 w 411"/>
                <a:gd name="T49" fmla="*/ 278 h 412"/>
                <a:gd name="T50" fmla="*/ 134 w 411"/>
                <a:gd name="T51" fmla="*/ 337 h 412"/>
                <a:gd name="T52" fmla="*/ 83 w 411"/>
                <a:gd name="T53" fmla="*/ 107 h 412"/>
                <a:gd name="T54" fmla="*/ 176 w 411"/>
                <a:gd name="T55" fmla="*/ 14 h 412"/>
                <a:gd name="T56" fmla="*/ 268 w 411"/>
                <a:gd name="T57" fmla="*/ 107 h 412"/>
                <a:gd name="T58" fmla="*/ 176 w 411"/>
                <a:gd name="T59" fmla="*/ 200 h 412"/>
                <a:gd name="T60" fmla="*/ 83 w 411"/>
                <a:gd name="T61" fmla="*/ 107 h 412"/>
                <a:gd name="T62" fmla="*/ 337 w 411"/>
                <a:gd name="T63" fmla="*/ 332 h 412"/>
                <a:gd name="T64" fmla="*/ 277 w 411"/>
                <a:gd name="T65" fmla="*/ 273 h 412"/>
                <a:gd name="T66" fmla="*/ 337 w 411"/>
                <a:gd name="T67" fmla="*/ 213 h 412"/>
                <a:gd name="T68" fmla="*/ 397 w 411"/>
                <a:gd name="T69" fmla="*/ 273 h 412"/>
                <a:gd name="T70" fmla="*/ 337 w 411"/>
                <a:gd name="T71" fmla="*/ 33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11" h="412">
                  <a:moveTo>
                    <a:pt x="337" y="198"/>
                  </a:moveTo>
                  <a:cubicBezTo>
                    <a:pt x="316" y="198"/>
                    <a:pt x="298" y="206"/>
                    <a:pt x="284" y="220"/>
                  </a:cubicBezTo>
                  <a:cubicBezTo>
                    <a:pt x="249" y="185"/>
                    <a:pt x="249" y="185"/>
                    <a:pt x="249" y="185"/>
                  </a:cubicBezTo>
                  <a:cubicBezTo>
                    <a:pt x="270" y="166"/>
                    <a:pt x="283" y="138"/>
                    <a:pt x="283" y="107"/>
                  </a:cubicBezTo>
                  <a:cubicBezTo>
                    <a:pt x="283" y="48"/>
                    <a:pt x="235" y="0"/>
                    <a:pt x="176" y="0"/>
                  </a:cubicBezTo>
                  <a:cubicBezTo>
                    <a:pt x="117" y="0"/>
                    <a:pt x="68" y="48"/>
                    <a:pt x="68" y="107"/>
                  </a:cubicBezTo>
                  <a:cubicBezTo>
                    <a:pt x="68" y="144"/>
                    <a:pt x="88" y="177"/>
                    <a:pt x="116" y="196"/>
                  </a:cubicBezTo>
                  <a:cubicBezTo>
                    <a:pt x="96" y="266"/>
                    <a:pt x="96" y="266"/>
                    <a:pt x="96" y="266"/>
                  </a:cubicBezTo>
                  <a:cubicBezTo>
                    <a:pt x="89" y="264"/>
                    <a:pt x="82" y="263"/>
                    <a:pt x="74" y="263"/>
                  </a:cubicBezTo>
                  <a:cubicBezTo>
                    <a:pt x="33" y="263"/>
                    <a:pt x="0" y="296"/>
                    <a:pt x="0" y="337"/>
                  </a:cubicBezTo>
                  <a:cubicBezTo>
                    <a:pt x="0" y="378"/>
                    <a:pt x="33" y="412"/>
                    <a:pt x="74" y="412"/>
                  </a:cubicBezTo>
                  <a:cubicBezTo>
                    <a:pt x="115" y="412"/>
                    <a:pt x="149" y="378"/>
                    <a:pt x="149" y="337"/>
                  </a:cubicBezTo>
                  <a:cubicBezTo>
                    <a:pt x="149" y="309"/>
                    <a:pt x="133" y="284"/>
                    <a:pt x="110" y="272"/>
                  </a:cubicBezTo>
                  <a:cubicBezTo>
                    <a:pt x="130" y="204"/>
                    <a:pt x="130" y="204"/>
                    <a:pt x="130" y="204"/>
                  </a:cubicBezTo>
                  <a:cubicBezTo>
                    <a:pt x="144" y="210"/>
                    <a:pt x="159" y="214"/>
                    <a:pt x="176" y="214"/>
                  </a:cubicBezTo>
                  <a:cubicBezTo>
                    <a:pt x="199" y="214"/>
                    <a:pt x="220" y="207"/>
                    <a:pt x="238" y="195"/>
                  </a:cubicBezTo>
                  <a:cubicBezTo>
                    <a:pt x="275" y="232"/>
                    <a:pt x="275" y="232"/>
                    <a:pt x="275" y="232"/>
                  </a:cubicBezTo>
                  <a:cubicBezTo>
                    <a:pt x="267" y="243"/>
                    <a:pt x="262" y="257"/>
                    <a:pt x="262" y="273"/>
                  </a:cubicBezTo>
                  <a:cubicBezTo>
                    <a:pt x="262" y="314"/>
                    <a:pt x="296" y="347"/>
                    <a:pt x="337" y="347"/>
                  </a:cubicBezTo>
                  <a:cubicBezTo>
                    <a:pt x="378" y="347"/>
                    <a:pt x="411" y="314"/>
                    <a:pt x="411" y="273"/>
                  </a:cubicBezTo>
                  <a:cubicBezTo>
                    <a:pt x="411" y="231"/>
                    <a:pt x="378" y="198"/>
                    <a:pt x="337" y="198"/>
                  </a:cubicBezTo>
                  <a:close/>
                  <a:moveTo>
                    <a:pt x="134" y="337"/>
                  </a:moveTo>
                  <a:cubicBezTo>
                    <a:pt x="134" y="370"/>
                    <a:pt x="107" y="397"/>
                    <a:pt x="74" y="397"/>
                  </a:cubicBezTo>
                  <a:cubicBezTo>
                    <a:pt x="41" y="397"/>
                    <a:pt x="14" y="370"/>
                    <a:pt x="14" y="337"/>
                  </a:cubicBezTo>
                  <a:cubicBezTo>
                    <a:pt x="14" y="304"/>
                    <a:pt x="41" y="278"/>
                    <a:pt x="74" y="278"/>
                  </a:cubicBezTo>
                  <a:cubicBezTo>
                    <a:pt x="107" y="278"/>
                    <a:pt x="134" y="304"/>
                    <a:pt x="134" y="337"/>
                  </a:cubicBezTo>
                  <a:close/>
                  <a:moveTo>
                    <a:pt x="83" y="107"/>
                  </a:moveTo>
                  <a:cubicBezTo>
                    <a:pt x="83" y="56"/>
                    <a:pt x="125" y="14"/>
                    <a:pt x="176" y="14"/>
                  </a:cubicBezTo>
                  <a:cubicBezTo>
                    <a:pt x="227" y="14"/>
                    <a:pt x="268" y="56"/>
                    <a:pt x="268" y="107"/>
                  </a:cubicBezTo>
                  <a:cubicBezTo>
                    <a:pt x="268" y="158"/>
                    <a:pt x="227" y="200"/>
                    <a:pt x="176" y="200"/>
                  </a:cubicBezTo>
                  <a:cubicBezTo>
                    <a:pt x="125" y="200"/>
                    <a:pt x="83" y="158"/>
                    <a:pt x="83" y="107"/>
                  </a:cubicBezTo>
                  <a:close/>
                  <a:moveTo>
                    <a:pt x="337" y="332"/>
                  </a:moveTo>
                  <a:cubicBezTo>
                    <a:pt x="304" y="332"/>
                    <a:pt x="277" y="306"/>
                    <a:pt x="277" y="273"/>
                  </a:cubicBezTo>
                  <a:cubicBezTo>
                    <a:pt x="277" y="240"/>
                    <a:pt x="304" y="213"/>
                    <a:pt x="337" y="213"/>
                  </a:cubicBezTo>
                  <a:cubicBezTo>
                    <a:pt x="370" y="213"/>
                    <a:pt x="397" y="240"/>
                    <a:pt x="397" y="273"/>
                  </a:cubicBezTo>
                  <a:cubicBezTo>
                    <a:pt x="397" y="306"/>
                    <a:pt x="370" y="332"/>
                    <a:pt x="337" y="332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rgbClr val="15F2FA"/>
              </a:solidFill>
            </a:ln>
          </p:spPr>
          <p:txBody>
            <a:bodyPr lIns="91428" tIns="45715" rIns="91428" bIns="45715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146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267941" y="4047217"/>
            <a:ext cx="2592916" cy="4716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一致性（</a:t>
            </a:r>
            <a:r>
              <a:rPr lang="en-US" altLang="zh-CN" sz="1865" dirty="0">
                <a:solidFill>
                  <a:srgbClr val="15F2FA"/>
                </a:solidFill>
                <a:cs typeface="+mn-ea"/>
                <a:sym typeface="+mn-lt"/>
              </a:rPr>
              <a:t>CAP</a:t>
            </a: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理论权衡）</a:t>
            </a:r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8947207" y="4142118"/>
            <a:ext cx="1109133" cy="1054100"/>
            <a:chOff x="5198629" y="2697972"/>
            <a:chExt cx="831692" cy="792088"/>
          </a:xfrm>
        </p:grpSpPr>
        <p:sp>
          <p:nvSpPr>
            <p:cNvPr id="11" name="正五边形 10"/>
            <p:cNvSpPr/>
            <p:nvPr/>
          </p:nvSpPr>
          <p:spPr>
            <a:xfrm>
              <a:off x="5198629" y="2697972"/>
              <a:ext cx="831692" cy="792088"/>
            </a:xfrm>
            <a:prstGeom prst="pentagon">
              <a:avLst/>
            </a:prstGeom>
            <a:noFill/>
            <a:ln>
              <a:solidFill>
                <a:srgbClr val="15F2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Freeform 13"/>
            <p:cNvSpPr>
              <a:spLocks noEditPoints="1"/>
            </p:cNvSpPr>
            <p:nvPr/>
          </p:nvSpPr>
          <p:spPr bwMode="auto">
            <a:xfrm>
              <a:off x="5482737" y="2906333"/>
              <a:ext cx="263475" cy="483524"/>
            </a:xfrm>
            <a:custGeom>
              <a:avLst/>
              <a:gdLst>
                <a:gd name="T0" fmla="*/ 2 w 122"/>
                <a:gd name="T1" fmla="*/ 65 h 225"/>
                <a:gd name="T2" fmla="*/ 14 w 122"/>
                <a:gd name="T3" fmla="*/ 77 h 225"/>
                <a:gd name="T4" fmla="*/ 17 w 122"/>
                <a:gd name="T5" fmla="*/ 76 h 225"/>
                <a:gd name="T6" fmla="*/ 119 w 122"/>
                <a:gd name="T7" fmla="*/ 42 h 225"/>
                <a:gd name="T8" fmla="*/ 119 w 122"/>
                <a:gd name="T9" fmla="*/ 30 h 225"/>
                <a:gd name="T10" fmla="*/ 105 w 122"/>
                <a:gd name="T11" fmla="*/ 23 h 225"/>
                <a:gd name="T12" fmla="*/ 3 w 122"/>
                <a:gd name="T13" fmla="*/ 57 h 225"/>
                <a:gd name="T14" fmla="*/ 108 w 122"/>
                <a:gd name="T15" fmla="*/ 28 h 225"/>
                <a:gd name="T16" fmla="*/ 114 w 122"/>
                <a:gd name="T17" fmla="*/ 35 h 225"/>
                <a:gd name="T18" fmla="*/ 111 w 122"/>
                <a:gd name="T19" fmla="*/ 42 h 225"/>
                <a:gd name="T20" fmla="*/ 14 w 122"/>
                <a:gd name="T21" fmla="*/ 71 h 225"/>
                <a:gd name="T22" fmla="*/ 9 w 122"/>
                <a:gd name="T23" fmla="*/ 67 h 225"/>
                <a:gd name="T24" fmla="*/ 8 w 122"/>
                <a:gd name="T25" fmla="*/ 59 h 225"/>
                <a:gd name="T26" fmla="*/ 106 w 122"/>
                <a:gd name="T27" fmla="*/ 28 h 225"/>
                <a:gd name="T28" fmla="*/ 14 w 122"/>
                <a:gd name="T29" fmla="*/ 43 h 225"/>
                <a:gd name="T30" fmla="*/ 66 w 122"/>
                <a:gd name="T31" fmla="*/ 28 h 225"/>
                <a:gd name="T32" fmla="*/ 73 w 122"/>
                <a:gd name="T33" fmla="*/ 10 h 225"/>
                <a:gd name="T34" fmla="*/ 9 w 122"/>
                <a:gd name="T35" fmla="*/ 17 h 225"/>
                <a:gd name="T36" fmla="*/ 3 w 122"/>
                <a:gd name="T37" fmla="*/ 35 h 225"/>
                <a:gd name="T38" fmla="*/ 61 w 122"/>
                <a:gd name="T39" fmla="*/ 8 h 225"/>
                <a:gd name="T40" fmla="*/ 67 w 122"/>
                <a:gd name="T41" fmla="*/ 12 h 225"/>
                <a:gd name="T42" fmla="*/ 65 w 122"/>
                <a:gd name="T43" fmla="*/ 22 h 225"/>
                <a:gd name="T44" fmla="*/ 14 w 122"/>
                <a:gd name="T45" fmla="*/ 37 h 225"/>
                <a:gd name="T46" fmla="*/ 8 w 122"/>
                <a:gd name="T47" fmla="*/ 30 h 225"/>
                <a:gd name="T48" fmla="*/ 120 w 122"/>
                <a:gd name="T49" fmla="*/ 101 h 225"/>
                <a:gd name="T50" fmla="*/ 105 w 122"/>
                <a:gd name="T51" fmla="*/ 90 h 225"/>
                <a:gd name="T52" fmla="*/ 72 w 122"/>
                <a:gd name="T53" fmla="*/ 110 h 225"/>
                <a:gd name="T54" fmla="*/ 55 w 122"/>
                <a:gd name="T55" fmla="*/ 138 h 225"/>
                <a:gd name="T56" fmla="*/ 53 w 122"/>
                <a:gd name="T57" fmla="*/ 99 h 225"/>
                <a:gd name="T58" fmla="*/ 119 w 122"/>
                <a:gd name="T59" fmla="*/ 76 h 225"/>
                <a:gd name="T60" fmla="*/ 119 w 122"/>
                <a:gd name="T61" fmla="*/ 64 h 225"/>
                <a:gd name="T62" fmla="*/ 9 w 122"/>
                <a:gd name="T63" fmla="*/ 85 h 225"/>
                <a:gd name="T64" fmla="*/ 1 w 122"/>
                <a:gd name="T65" fmla="*/ 97 h 225"/>
                <a:gd name="T66" fmla="*/ 3 w 122"/>
                <a:gd name="T67" fmla="*/ 102 h 225"/>
                <a:gd name="T68" fmla="*/ 11 w 122"/>
                <a:gd name="T69" fmla="*/ 110 h 225"/>
                <a:gd name="T70" fmla="*/ 28 w 122"/>
                <a:gd name="T71" fmla="*/ 121 h 225"/>
                <a:gd name="T72" fmla="*/ 17 w 122"/>
                <a:gd name="T73" fmla="*/ 138 h 225"/>
                <a:gd name="T74" fmla="*/ 40 w 122"/>
                <a:gd name="T75" fmla="*/ 209 h 225"/>
                <a:gd name="T76" fmla="*/ 53 w 122"/>
                <a:gd name="T77" fmla="*/ 225 h 225"/>
                <a:gd name="T78" fmla="*/ 87 w 122"/>
                <a:gd name="T79" fmla="*/ 214 h 225"/>
                <a:gd name="T80" fmla="*/ 110 w 122"/>
                <a:gd name="T81" fmla="*/ 187 h 225"/>
                <a:gd name="T82" fmla="*/ 99 w 122"/>
                <a:gd name="T83" fmla="*/ 138 h 225"/>
                <a:gd name="T84" fmla="*/ 104 w 122"/>
                <a:gd name="T85" fmla="*/ 117 h 225"/>
                <a:gd name="T86" fmla="*/ 120 w 122"/>
                <a:gd name="T87" fmla="*/ 101 h 225"/>
                <a:gd name="T88" fmla="*/ 47 w 122"/>
                <a:gd name="T89" fmla="*/ 101 h 225"/>
                <a:gd name="T90" fmla="*/ 49 w 122"/>
                <a:gd name="T91" fmla="*/ 138 h 225"/>
                <a:gd name="T92" fmla="*/ 35 w 122"/>
                <a:gd name="T93" fmla="*/ 121 h 225"/>
                <a:gd name="T94" fmla="*/ 24 w 122"/>
                <a:gd name="T95" fmla="*/ 108 h 225"/>
                <a:gd name="T96" fmla="*/ 12 w 122"/>
                <a:gd name="T97" fmla="*/ 104 h 225"/>
                <a:gd name="T98" fmla="*/ 8 w 122"/>
                <a:gd name="T99" fmla="*/ 97 h 225"/>
                <a:gd name="T100" fmla="*/ 8 w 122"/>
                <a:gd name="T101" fmla="*/ 93 h 225"/>
                <a:gd name="T102" fmla="*/ 12 w 122"/>
                <a:gd name="T103" fmla="*/ 90 h 225"/>
                <a:gd name="T104" fmla="*/ 24 w 122"/>
                <a:gd name="T105" fmla="*/ 86 h 225"/>
                <a:gd name="T106" fmla="*/ 108 w 122"/>
                <a:gd name="T107" fmla="*/ 62 h 225"/>
                <a:gd name="T108" fmla="*/ 114 w 122"/>
                <a:gd name="T109" fmla="*/ 69 h 225"/>
                <a:gd name="T110" fmla="*/ 111 w 122"/>
                <a:gd name="T111" fmla="*/ 76 h 225"/>
                <a:gd name="T112" fmla="*/ 43 w 122"/>
                <a:gd name="T113" fmla="*/ 98 h 225"/>
                <a:gd name="T114" fmla="*/ 103 w 122"/>
                <a:gd name="T115" fmla="*/ 111 h 225"/>
                <a:gd name="T116" fmla="*/ 92 w 122"/>
                <a:gd name="T117" fmla="*/ 138 h 225"/>
                <a:gd name="T118" fmla="*/ 78 w 122"/>
                <a:gd name="T119" fmla="*/ 110 h 225"/>
                <a:gd name="T120" fmla="*/ 106 w 122"/>
                <a:gd name="T121" fmla="*/ 96 h 225"/>
                <a:gd name="T122" fmla="*/ 114 w 122"/>
                <a:gd name="T123" fmla="*/ 103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2" h="225">
                  <a:moveTo>
                    <a:pt x="3" y="57"/>
                  </a:moveTo>
                  <a:cubicBezTo>
                    <a:pt x="1" y="59"/>
                    <a:pt x="1" y="62"/>
                    <a:pt x="2" y="65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4" y="74"/>
                    <a:pt x="9" y="77"/>
                    <a:pt x="14" y="77"/>
                  </a:cubicBezTo>
                  <a:cubicBezTo>
                    <a:pt x="14" y="77"/>
                    <a:pt x="14" y="77"/>
                    <a:pt x="14" y="77"/>
                  </a:cubicBezTo>
                  <a:cubicBezTo>
                    <a:pt x="15" y="77"/>
                    <a:pt x="16" y="77"/>
                    <a:pt x="17" y="76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5" y="47"/>
                    <a:pt x="118" y="45"/>
                    <a:pt x="119" y="42"/>
                  </a:cubicBezTo>
                  <a:cubicBezTo>
                    <a:pt x="120" y="40"/>
                    <a:pt x="121" y="37"/>
                    <a:pt x="120" y="34"/>
                  </a:cubicBezTo>
                  <a:cubicBezTo>
                    <a:pt x="119" y="30"/>
                    <a:pt x="119" y="30"/>
                    <a:pt x="119" y="30"/>
                  </a:cubicBezTo>
                  <a:cubicBezTo>
                    <a:pt x="117" y="25"/>
                    <a:pt x="113" y="22"/>
                    <a:pt x="108" y="22"/>
                  </a:cubicBezTo>
                  <a:cubicBezTo>
                    <a:pt x="107" y="22"/>
                    <a:pt x="106" y="22"/>
                    <a:pt x="105" y="23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6" y="52"/>
                    <a:pt x="4" y="54"/>
                    <a:pt x="3" y="57"/>
                  </a:cubicBezTo>
                  <a:close/>
                  <a:moveTo>
                    <a:pt x="106" y="28"/>
                  </a:moveTo>
                  <a:cubicBezTo>
                    <a:pt x="107" y="28"/>
                    <a:pt x="107" y="28"/>
                    <a:pt x="108" y="28"/>
                  </a:cubicBezTo>
                  <a:cubicBezTo>
                    <a:pt x="110" y="28"/>
                    <a:pt x="112" y="30"/>
                    <a:pt x="113" y="32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5" y="37"/>
                    <a:pt x="114" y="38"/>
                    <a:pt x="114" y="40"/>
                  </a:cubicBezTo>
                  <a:cubicBezTo>
                    <a:pt x="113" y="41"/>
                    <a:pt x="112" y="42"/>
                    <a:pt x="111" y="42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5" y="71"/>
                    <a:pt x="14" y="71"/>
                    <a:pt x="14" y="71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1" y="71"/>
                    <a:pt x="9" y="69"/>
                    <a:pt x="9" y="67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7" y="62"/>
                    <a:pt x="7" y="61"/>
                    <a:pt x="8" y="59"/>
                  </a:cubicBezTo>
                  <a:cubicBezTo>
                    <a:pt x="9" y="58"/>
                    <a:pt x="10" y="57"/>
                    <a:pt x="11" y="57"/>
                  </a:cubicBezTo>
                  <a:lnTo>
                    <a:pt x="106" y="28"/>
                  </a:lnTo>
                  <a:close/>
                  <a:moveTo>
                    <a:pt x="3" y="35"/>
                  </a:moveTo>
                  <a:cubicBezTo>
                    <a:pt x="4" y="40"/>
                    <a:pt x="9" y="43"/>
                    <a:pt x="14" y="43"/>
                  </a:cubicBezTo>
                  <a:cubicBezTo>
                    <a:pt x="15" y="43"/>
                    <a:pt x="16" y="43"/>
                    <a:pt x="17" y="43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72" y="26"/>
                    <a:pt x="76" y="19"/>
                    <a:pt x="74" y="13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1" y="4"/>
                    <a:pt x="65" y="0"/>
                    <a:pt x="59" y="2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3" y="19"/>
                    <a:pt x="0" y="25"/>
                    <a:pt x="2" y="31"/>
                  </a:cubicBezTo>
                  <a:lnTo>
                    <a:pt x="3" y="35"/>
                  </a:lnTo>
                  <a:close/>
                  <a:moveTo>
                    <a:pt x="11" y="23"/>
                  </a:move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2" y="8"/>
                    <a:pt x="62" y="8"/>
                  </a:cubicBezTo>
                  <a:cubicBezTo>
                    <a:pt x="64" y="8"/>
                    <a:pt x="67" y="9"/>
                    <a:pt x="67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69" y="18"/>
                    <a:pt x="68" y="21"/>
                    <a:pt x="65" y="22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7"/>
                    <a:pt x="14" y="37"/>
                  </a:cubicBezTo>
                  <a:cubicBezTo>
                    <a:pt x="11" y="37"/>
                    <a:pt x="9" y="36"/>
                    <a:pt x="9" y="33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7" y="27"/>
                    <a:pt x="8" y="24"/>
                    <a:pt x="11" y="23"/>
                  </a:cubicBezTo>
                  <a:close/>
                  <a:moveTo>
                    <a:pt x="120" y="101"/>
                  </a:moveTo>
                  <a:cubicBezTo>
                    <a:pt x="119" y="97"/>
                    <a:pt x="119" y="97"/>
                    <a:pt x="119" y="97"/>
                  </a:cubicBezTo>
                  <a:cubicBezTo>
                    <a:pt x="117" y="92"/>
                    <a:pt x="110" y="88"/>
                    <a:pt x="105" y="90"/>
                  </a:cubicBezTo>
                  <a:cubicBezTo>
                    <a:pt x="82" y="96"/>
                    <a:pt x="82" y="96"/>
                    <a:pt x="82" y="96"/>
                  </a:cubicBezTo>
                  <a:cubicBezTo>
                    <a:pt x="76" y="98"/>
                    <a:pt x="72" y="104"/>
                    <a:pt x="72" y="110"/>
                  </a:cubicBezTo>
                  <a:cubicBezTo>
                    <a:pt x="72" y="138"/>
                    <a:pt x="72" y="138"/>
                    <a:pt x="72" y="138"/>
                  </a:cubicBezTo>
                  <a:cubicBezTo>
                    <a:pt x="55" y="138"/>
                    <a:pt x="55" y="138"/>
                    <a:pt x="55" y="138"/>
                  </a:cubicBezTo>
                  <a:cubicBezTo>
                    <a:pt x="55" y="106"/>
                    <a:pt x="55" y="106"/>
                    <a:pt x="55" y="106"/>
                  </a:cubicBezTo>
                  <a:cubicBezTo>
                    <a:pt x="55" y="104"/>
                    <a:pt x="54" y="101"/>
                    <a:pt x="53" y="99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15" y="81"/>
                    <a:pt x="118" y="79"/>
                    <a:pt x="119" y="76"/>
                  </a:cubicBezTo>
                  <a:cubicBezTo>
                    <a:pt x="120" y="73"/>
                    <a:pt x="121" y="70"/>
                    <a:pt x="120" y="67"/>
                  </a:cubicBezTo>
                  <a:cubicBezTo>
                    <a:pt x="119" y="64"/>
                    <a:pt x="119" y="64"/>
                    <a:pt x="119" y="64"/>
                  </a:cubicBezTo>
                  <a:cubicBezTo>
                    <a:pt x="117" y="58"/>
                    <a:pt x="110" y="54"/>
                    <a:pt x="105" y="56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6" y="86"/>
                    <a:pt x="4" y="88"/>
                    <a:pt x="3" y="90"/>
                  </a:cubicBezTo>
                  <a:cubicBezTo>
                    <a:pt x="1" y="92"/>
                    <a:pt x="1" y="95"/>
                    <a:pt x="1" y="97"/>
                  </a:cubicBezTo>
                  <a:cubicBezTo>
                    <a:pt x="2" y="98"/>
                    <a:pt x="2" y="98"/>
                    <a:pt x="2" y="99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4" y="106"/>
                    <a:pt x="7" y="109"/>
                    <a:pt x="10" y="110"/>
                  </a:cubicBezTo>
                  <a:cubicBezTo>
                    <a:pt x="11" y="110"/>
                    <a:pt x="11" y="110"/>
                    <a:pt x="11" y="110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6" y="114"/>
                    <a:pt x="28" y="118"/>
                    <a:pt x="28" y="121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17" y="138"/>
                    <a:pt x="17" y="138"/>
                    <a:pt x="17" y="138"/>
                  </a:cubicBezTo>
                  <a:cubicBezTo>
                    <a:pt x="17" y="187"/>
                    <a:pt x="17" y="187"/>
                    <a:pt x="17" y="187"/>
                  </a:cubicBezTo>
                  <a:cubicBezTo>
                    <a:pt x="17" y="199"/>
                    <a:pt x="28" y="208"/>
                    <a:pt x="40" y="209"/>
                  </a:cubicBezTo>
                  <a:cubicBezTo>
                    <a:pt x="40" y="214"/>
                    <a:pt x="40" y="214"/>
                    <a:pt x="40" y="214"/>
                  </a:cubicBezTo>
                  <a:cubicBezTo>
                    <a:pt x="40" y="220"/>
                    <a:pt x="46" y="225"/>
                    <a:pt x="53" y="225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81" y="225"/>
                    <a:pt x="87" y="220"/>
                    <a:pt x="87" y="214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99" y="208"/>
                    <a:pt x="110" y="199"/>
                    <a:pt x="110" y="187"/>
                  </a:cubicBezTo>
                  <a:cubicBezTo>
                    <a:pt x="110" y="138"/>
                    <a:pt x="110" y="138"/>
                    <a:pt x="110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25"/>
                    <a:pt x="99" y="125"/>
                    <a:pt x="99" y="125"/>
                  </a:cubicBezTo>
                  <a:cubicBezTo>
                    <a:pt x="99" y="122"/>
                    <a:pt x="101" y="118"/>
                    <a:pt x="104" y="117"/>
                  </a:cubicBezTo>
                  <a:cubicBezTo>
                    <a:pt x="112" y="115"/>
                    <a:pt x="112" y="115"/>
                    <a:pt x="112" y="115"/>
                  </a:cubicBezTo>
                  <a:cubicBezTo>
                    <a:pt x="118" y="113"/>
                    <a:pt x="122" y="107"/>
                    <a:pt x="120" y="101"/>
                  </a:cubicBezTo>
                  <a:close/>
                  <a:moveTo>
                    <a:pt x="43" y="98"/>
                  </a:moveTo>
                  <a:cubicBezTo>
                    <a:pt x="45" y="99"/>
                    <a:pt x="46" y="100"/>
                    <a:pt x="47" y="101"/>
                  </a:cubicBezTo>
                  <a:cubicBezTo>
                    <a:pt x="48" y="103"/>
                    <a:pt x="49" y="104"/>
                    <a:pt x="49" y="106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35" y="138"/>
                    <a:pt x="35" y="138"/>
                    <a:pt x="35" y="138"/>
                  </a:cubicBezTo>
                  <a:cubicBezTo>
                    <a:pt x="35" y="121"/>
                    <a:pt x="35" y="121"/>
                    <a:pt x="35" y="121"/>
                  </a:cubicBezTo>
                  <a:cubicBezTo>
                    <a:pt x="35" y="116"/>
                    <a:pt x="30" y="110"/>
                    <a:pt x="25" y="108"/>
                  </a:cubicBezTo>
                  <a:cubicBezTo>
                    <a:pt x="25" y="108"/>
                    <a:pt x="24" y="108"/>
                    <a:pt x="24" y="108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0" y="104"/>
                    <a:pt x="9" y="102"/>
                    <a:pt x="9" y="101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7" y="96"/>
                    <a:pt x="7" y="94"/>
                    <a:pt x="8" y="93"/>
                  </a:cubicBezTo>
                  <a:cubicBezTo>
                    <a:pt x="9" y="92"/>
                    <a:pt x="10" y="91"/>
                    <a:pt x="11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3" y="90"/>
                    <a:pt x="13" y="90"/>
                    <a:pt x="13" y="90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7" y="62"/>
                    <a:pt x="107" y="62"/>
                    <a:pt x="108" y="62"/>
                  </a:cubicBezTo>
                  <a:cubicBezTo>
                    <a:pt x="110" y="62"/>
                    <a:pt x="112" y="63"/>
                    <a:pt x="113" y="66"/>
                  </a:cubicBezTo>
                  <a:cubicBezTo>
                    <a:pt x="114" y="69"/>
                    <a:pt x="114" y="69"/>
                    <a:pt x="114" y="69"/>
                  </a:cubicBezTo>
                  <a:cubicBezTo>
                    <a:pt x="115" y="71"/>
                    <a:pt x="114" y="72"/>
                    <a:pt x="114" y="73"/>
                  </a:cubicBezTo>
                  <a:cubicBezTo>
                    <a:pt x="113" y="74"/>
                    <a:pt x="112" y="75"/>
                    <a:pt x="111" y="76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39" y="97"/>
                    <a:pt x="43" y="98"/>
                    <a:pt x="43" y="98"/>
                  </a:cubicBezTo>
                  <a:close/>
                  <a:moveTo>
                    <a:pt x="111" y="109"/>
                  </a:moveTo>
                  <a:cubicBezTo>
                    <a:pt x="103" y="111"/>
                    <a:pt x="103" y="111"/>
                    <a:pt x="103" y="111"/>
                  </a:cubicBezTo>
                  <a:cubicBezTo>
                    <a:pt x="97" y="113"/>
                    <a:pt x="92" y="119"/>
                    <a:pt x="92" y="125"/>
                  </a:cubicBezTo>
                  <a:cubicBezTo>
                    <a:pt x="92" y="138"/>
                    <a:pt x="92" y="138"/>
                    <a:pt x="92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107"/>
                    <a:pt x="81" y="103"/>
                    <a:pt x="84" y="102"/>
                  </a:cubicBezTo>
                  <a:cubicBezTo>
                    <a:pt x="106" y="96"/>
                    <a:pt x="106" y="96"/>
                    <a:pt x="106" y="96"/>
                  </a:cubicBezTo>
                  <a:cubicBezTo>
                    <a:pt x="109" y="95"/>
                    <a:pt x="112" y="96"/>
                    <a:pt x="113" y="99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5" y="106"/>
                    <a:pt x="113" y="109"/>
                    <a:pt x="111" y="109"/>
                  </a:cubicBezTo>
                  <a:close/>
                </a:path>
              </a:pathLst>
            </a:custGeom>
            <a:solidFill>
              <a:srgbClr val="15F2FA"/>
            </a:solidFill>
            <a:ln>
              <a:solidFill>
                <a:srgbClr val="15F2FA"/>
              </a:solidFill>
            </a:ln>
          </p:spPr>
          <p:txBody>
            <a:bodyPr lIns="91428" tIns="45715" rIns="91428" bIns="45715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146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6642156" y="2590601"/>
            <a:ext cx="1109133" cy="1056216"/>
            <a:chOff x="3923928" y="1534662"/>
            <a:chExt cx="831692" cy="792088"/>
          </a:xfrm>
        </p:grpSpPr>
        <p:sp>
          <p:nvSpPr>
            <p:cNvPr id="10" name="正五边形 9"/>
            <p:cNvSpPr/>
            <p:nvPr/>
          </p:nvSpPr>
          <p:spPr>
            <a:xfrm>
              <a:off x="3923928" y="1534662"/>
              <a:ext cx="831692" cy="792088"/>
            </a:xfrm>
            <a:prstGeom prst="pentagon">
              <a:avLst/>
            </a:prstGeom>
            <a:noFill/>
            <a:ln>
              <a:solidFill>
                <a:srgbClr val="15F2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Freeform 78"/>
            <p:cNvSpPr>
              <a:spLocks noEditPoints="1"/>
            </p:cNvSpPr>
            <p:nvPr/>
          </p:nvSpPr>
          <p:spPr bwMode="auto">
            <a:xfrm>
              <a:off x="4146136" y="1785464"/>
              <a:ext cx="409497" cy="409537"/>
            </a:xfrm>
            <a:custGeom>
              <a:avLst/>
              <a:gdLst>
                <a:gd name="T0" fmla="*/ 174 w 347"/>
                <a:gd name="T1" fmla="*/ 0 h 347"/>
                <a:gd name="T2" fmla="*/ 0 w 347"/>
                <a:gd name="T3" fmla="*/ 174 h 347"/>
                <a:gd name="T4" fmla="*/ 174 w 347"/>
                <a:gd name="T5" fmla="*/ 347 h 347"/>
                <a:gd name="T6" fmla="*/ 347 w 347"/>
                <a:gd name="T7" fmla="*/ 174 h 347"/>
                <a:gd name="T8" fmla="*/ 174 w 347"/>
                <a:gd name="T9" fmla="*/ 0 h 347"/>
                <a:gd name="T10" fmla="*/ 332 w 347"/>
                <a:gd name="T11" fmla="*/ 166 h 347"/>
                <a:gd name="T12" fmla="*/ 283 w 347"/>
                <a:gd name="T13" fmla="*/ 166 h 347"/>
                <a:gd name="T14" fmla="*/ 231 w 347"/>
                <a:gd name="T15" fmla="*/ 26 h 347"/>
                <a:gd name="T16" fmla="*/ 332 w 347"/>
                <a:gd name="T17" fmla="*/ 166 h 347"/>
                <a:gd name="T18" fmla="*/ 174 w 347"/>
                <a:gd name="T19" fmla="*/ 332 h 347"/>
                <a:gd name="T20" fmla="*/ 147 w 347"/>
                <a:gd name="T21" fmla="*/ 181 h 347"/>
                <a:gd name="T22" fmla="*/ 200 w 347"/>
                <a:gd name="T23" fmla="*/ 181 h 347"/>
                <a:gd name="T24" fmla="*/ 174 w 347"/>
                <a:gd name="T25" fmla="*/ 332 h 347"/>
                <a:gd name="T26" fmla="*/ 147 w 347"/>
                <a:gd name="T27" fmla="*/ 166 h 347"/>
                <a:gd name="T28" fmla="*/ 174 w 347"/>
                <a:gd name="T29" fmla="*/ 15 h 347"/>
                <a:gd name="T30" fmla="*/ 174 w 347"/>
                <a:gd name="T31" fmla="*/ 15 h 347"/>
                <a:gd name="T32" fmla="*/ 200 w 347"/>
                <a:gd name="T33" fmla="*/ 166 h 347"/>
                <a:gd name="T34" fmla="*/ 147 w 347"/>
                <a:gd name="T35" fmla="*/ 166 h 347"/>
                <a:gd name="T36" fmla="*/ 153 w 347"/>
                <a:gd name="T37" fmla="*/ 19 h 347"/>
                <a:gd name="T38" fmla="*/ 133 w 347"/>
                <a:gd name="T39" fmla="*/ 166 h 347"/>
                <a:gd name="T40" fmla="*/ 79 w 347"/>
                <a:gd name="T41" fmla="*/ 166 h 347"/>
                <a:gd name="T42" fmla="*/ 153 w 347"/>
                <a:gd name="T43" fmla="*/ 19 h 347"/>
                <a:gd name="T44" fmla="*/ 133 w 347"/>
                <a:gd name="T45" fmla="*/ 181 h 347"/>
                <a:gd name="T46" fmla="*/ 153 w 347"/>
                <a:gd name="T47" fmla="*/ 329 h 347"/>
                <a:gd name="T48" fmla="*/ 79 w 347"/>
                <a:gd name="T49" fmla="*/ 181 h 347"/>
                <a:gd name="T50" fmla="*/ 133 w 347"/>
                <a:gd name="T51" fmla="*/ 181 h 347"/>
                <a:gd name="T52" fmla="*/ 194 w 347"/>
                <a:gd name="T53" fmla="*/ 329 h 347"/>
                <a:gd name="T54" fmla="*/ 215 w 347"/>
                <a:gd name="T55" fmla="*/ 181 h 347"/>
                <a:gd name="T56" fmla="*/ 268 w 347"/>
                <a:gd name="T57" fmla="*/ 181 h 347"/>
                <a:gd name="T58" fmla="*/ 194 w 347"/>
                <a:gd name="T59" fmla="*/ 329 h 347"/>
                <a:gd name="T60" fmla="*/ 215 w 347"/>
                <a:gd name="T61" fmla="*/ 166 h 347"/>
                <a:gd name="T62" fmla="*/ 194 w 347"/>
                <a:gd name="T63" fmla="*/ 19 h 347"/>
                <a:gd name="T64" fmla="*/ 268 w 347"/>
                <a:gd name="T65" fmla="*/ 166 h 347"/>
                <a:gd name="T66" fmla="*/ 215 w 347"/>
                <a:gd name="T67" fmla="*/ 166 h 347"/>
                <a:gd name="T68" fmla="*/ 117 w 347"/>
                <a:gd name="T69" fmla="*/ 26 h 347"/>
                <a:gd name="T70" fmla="*/ 64 w 347"/>
                <a:gd name="T71" fmla="*/ 166 h 347"/>
                <a:gd name="T72" fmla="*/ 15 w 347"/>
                <a:gd name="T73" fmla="*/ 166 h 347"/>
                <a:gd name="T74" fmla="*/ 117 w 347"/>
                <a:gd name="T75" fmla="*/ 26 h 347"/>
                <a:gd name="T76" fmla="*/ 15 w 347"/>
                <a:gd name="T77" fmla="*/ 181 h 347"/>
                <a:gd name="T78" fmla="*/ 64 w 347"/>
                <a:gd name="T79" fmla="*/ 181 h 347"/>
                <a:gd name="T80" fmla="*/ 117 w 347"/>
                <a:gd name="T81" fmla="*/ 322 h 347"/>
                <a:gd name="T82" fmla="*/ 15 w 347"/>
                <a:gd name="T83" fmla="*/ 181 h 347"/>
                <a:gd name="T84" fmla="*/ 231 w 347"/>
                <a:gd name="T85" fmla="*/ 322 h 347"/>
                <a:gd name="T86" fmla="*/ 283 w 347"/>
                <a:gd name="T87" fmla="*/ 181 h 347"/>
                <a:gd name="T88" fmla="*/ 332 w 347"/>
                <a:gd name="T89" fmla="*/ 181 h 347"/>
                <a:gd name="T90" fmla="*/ 231 w 347"/>
                <a:gd name="T91" fmla="*/ 322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7" h="347">
                  <a:moveTo>
                    <a:pt x="174" y="0"/>
                  </a:moveTo>
                  <a:cubicBezTo>
                    <a:pt x="78" y="0"/>
                    <a:pt x="0" y="78"/>
                    <a:pt x="0" y="174"/>
                  </a:cubicBezTo>
                  <a:cubicBezTo>
                    <a:pt x="0" y="269"/>
                    <a:pt x="78" y="347"/>
                    <a:pt x="174" y="347"/>
                  </a:cubicBezTo>
                  <a:cubicBezTo>
                    <a:pt x="269" y="347"/>
                    <a:pt x="347" y="269"/>
                    <a:pt x="347" y="174"/>
                  </a:cubicBezTo>
                  <a:cubicBezTo>
                    <a:pt x="347" y="78"/>
                    <a:pt x="269" y="0"/>
                    <a:pt x="174" y="0"/>
                  </a:cubicBezTo>
                  <a:close/>
                  <a:moveTo>
                    <a:pt x="332" y="166"/>
                  </a:moveTo>
                  <a:cubicBezTo>
                    <a:pt x="283" y="166"/>
                    <a:pt x="283" y="166"/>
                    <a:pt x="283" y="166"/>
                  </a:cubicBezTo>
                  <a:cubicBezTo>
                    <a:pt x="281" y="107"/>
                    <a:pt x="261" y="55"/>
                    <a:pt x="231" y="26"/>
                  </a:cubicBezTo>
                  <a:cubicBezTo>
                    <a:pt x="288" y="48"/>
                    <a:pt x="329" y="102"/>
                    <a:pt x="332" y="166"/>
                  </a:cubicBezTo>
                  <a:close/>
                  <a:moveTo>
                    <a:pt x="174" y="332"/>
                  </a:moveTo>
                  <a:cubicBezTo>
                    <a:pt x="165" y="330"/>
                    <a:pt x="148" y="277"/>
                    <a:pt x="147" y="181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99" y="277"/>
                    <a:pt x="183" y="330"/>
                    <a:pt x="174" y="332"/>
                  </a:cubicBezTo>
                  <a:close/>
                  <a:moveTo>
                    <a:pt x="147" y="166"/>
                  </a:moveTo>
                  <a:cubicBezTo>
                    <a:pt x="148" y="70"/>
                    <a:pt x="165" y="17"/>
                    <a:pt x="174" y="15"/>
                  </a:cubicBezTo>
                  <a:cubicBezTo>
                    <a:pt x="174" y="15"/>
                    <a:pt x="174" y="15"/>
                    <a:pt x="174" y="15"/>
                  </a:cubicBezTo>
                  <a:cubicBezTo>
                    <a:pt x="183" y="17"/>
                    <a:pt x="199" y="70"/>
                    <a:pt x="200" y="166"/>
                  </a:cubicBezTo>
                  <a:lnTo>
                    <a:pt x="147" y="166"/>
                  </a:lnTo>
                  <a:close/>
                  <a:moveTo>
                    <a:pt x="153" y="19"/>
                  </a:moveTo>
                  <a:cubicBezTo>
                    <a:pt x="138" y="51"/>
                    <a:pt x="133" y="118"/>
                    <a:pt x="133" y="166"/>
                  </a:cubicBezTo>
                  <a:cubicBezTo>
                    <a:pt x="79" y="166"/>
                    <a:pt x="79" y="166"/>
                    <a:pt x="79" y="166"/>
                  </a:cubicBezTo>
                  <a:cubicBezTo>
                    <a:pt x="81" y="94"/>
                    <a:pt x="112" y="34"/>
                    <a:pt x="153" y="19"/>
                  </a:cubicBezTo>
                  <a:close/>
                  <a:moveTo>
                    <a:pt x="133" y="181"/>
                  </a:moveTo>
                  <a:cubicBezTo>
                    <a:pt x="133" y="229"/>
                    <a:pt x="138" y="296"/>
                    <a:pt x="153" y="329"/>
                  </a:cubicBezTo>
                  <a:cubicBezTo>
                    <a:pt x="112" y="313"/>
                    <a:pt x="81" y="254"/>
                    <a:pt x="79" y="181"/>
                  </a:cubicBezTo>
                  <a:lnTo>
                    <a:pt x="133" y="181"/>
                  </a:lnTo>
                  <a:close/>
                  <a:moveTo>
                    <a:pt x="194" y="329"/>
                  </a:moveTo>
                  <a:cubicBezTo>
                    <a:pt x="209" y="296"/>
                    <a:pt x="214" y="229"/>
                    <a:pt x="215" y="181"/>
                  </a:cubicBezTo>
                  <a:cubicBezTo>
                    <a:pt x="268" y="181"/>
                    <a:pt x="268" y="181"/>
                    <a:pt x="268" y="181"/>
                  </a:cubicBezTo>
                  <a:cubicBezTo>
                    <a:pt x="266" y="254"/>
                    <a:pt x="235" y="313"/>
                    <a:pt x="194" y="329"/>
                  </a:cubicBezTo>
                  <a:close/>
                  <a:moveTo>
                    <a:pt x="215" y="166"/>
                  </a:moveTo>
                  <a:cubicBezTo>
                    <a:pt x="214" y="118"/>
                    <a:pt x="209" y="51"/>
                    <a:pt x="194" y="19"/>
                  </a:cubicBezTo>
                  <a:cubicBezTo>
                    <a:pt x="235" y="34"/>
                    <a:pt x="266" y="94"/>
                    <a:pt x="268" y="166"/>
                  </a:cubicBezTo>
                  <a:lnTo>
                    <a:pt x="215" y="166"/>
                  </a:lnTo>
                  <a:close/>
                  <a:moveTo>
                    <a:pt x="117" y="26"/>
                  </a:moveTo>
                  <a:cubicBezTo>
                    <a:pt x="87" y="55"/>
                    <a:pt x="66" y="107"/>
                    <a:pt x="64" y="166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8" y="102"/>
                    <a:pt x="59" y="48"/>
                    <a:pt x="117" y="26"/>
                  </a:cubicBezTo>
                  <a:close/>
                  <a:moveTo>
                    <a:pt x="15" y="181"/>
                  </a:moveTo>
                  <a:cubicBezTo>
                    <a:pt x="64" y="181"/>
                    <a:pt x="64" y="181"/>
                    <a:pt x="64" y="181"/>
                  </a:cubicBezTo>
                  <a:cubicBezTo>
                    <a:pt x="66" y="241"/>
                    <a:pt x="87" y="292"/>
                    <a:pt x="117" y="322"/>
                  </a:cubicBezTo>
                  <a:cubicBezTo>
                    <a:pt x="59" y="300"/>
                    <a:pt x="18" y="245"/>
                    <a:pt x="15" y="181"/>
                  </a:cubicBezTo>
                  <a:close/>
                  <a:moveTo>
                    <a:pt x="231" y="322"/>
                  </a:moveTo>
                  <a:cubicBezTo>
                    <a:pt x="261" y="292"/>
                    <a:pt x="281" y="241"/>
                    <a:pt x="283" y="181"/>
                  </a:cubicBezTo>
                  <a:cubicBezTo>
                    <a:pt x="332" y="181"/>
                    <a:pt x="332" y="181"/>
                    <a:pt x="332" y="181"/>
                  </a:cubicBezTo>
                  <a:cubicBezTo>
                    <a:pt x="329" y="245"/>
                    <a:pt x="288" y="300"/>
                    <a:pt x="231" y="322"/>
                  </a:cubicBezTo>
                  <a:close/>
                </a:path>
              </a:pathLst>
            </a:custGeom>
            <a:solidFill>
              <a:srgbClr val="15F2FA"/>
            </a:solidFill>
            <a:ln>
              <a:solidFill>
                <a:srgbClr val="15F2FA"/>
              </a:solidFill>
            </a:ln>
          </p:spPr>
          <p:txBody>
            <a:bodyPr lIns="91428" tIns="45715" rIns="91428" bIns="45715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146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4337107" y="4142118"/>
            <a:ext cx="1107016" cy="1054100"/>
            <a:chOff x="2483768" y="2697972"/>
            <a:chExt cx="831692" cy="792088"/>
          </a:xfrm>
        </p:grpSpPr>
        <p:sp>
          <p:nvSpPr>
            <p:cNvPr id="9" name="正五边形 8"/>
            <p:cNvSpPr/>
            <p:nvPr/>
          </p:nvSpPr>
          <p:spPr>
            <a:xfrm>
              <a:off x="2483768" y="2697972"/>
              <a:ext cx="831692" cy="792088"/>
            </a:xfrm>
            <a:prstGeom prst="pentagon">
              <a:avLst/>
            </a:prstGeom>
            <a:noFill/>
            <a:ln>
              <a:solidFill>
                <a:srgbClr val="15F2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" name="Freeform 77"/>
            <p:cNvSpPr>
              <a:spLocks noEditPoints="1"/>
            </p:cNvSpPr>
            <p:nvPr/>
          </p:nvSpPr>
          <p:spPr bwMode="auto">
            <a:xfrm>
              <a:off x="2655513" y="2981088"/>
              <a:ext cx="488201" cy="334013"/>
            </a:xfrm>
            <a:custGeom>
              <a:avLst/>
              <a:gdLst>
                <a:gd name="T0" fmla="*/ 340 w 413"/>
                <a:gd name="T1" fmla="*/ 283 h 283"/>
                <a:gd name="T2" fmla="*/ 73 w 413"/>
                <a:gd name="T3" fmla="*/ 283 h 283"/>
                <a:gd name="T4" fmla="*/ 72 w 413"/>
                <a:gd name="T5" fmla="*/ 283 h 283"/>
                <a:gd name="T6" fmla="*/ 0 w 413"/>
                <a:gd name="T7" fmla="*/ 209 h 283"/>
                <a:gd name="T8" fmla="*/ 70 w 413"/>
                <a:gd name="T9" fmla="*/ 135 h 283"/>
                <a:gd name="T10" fmla="*/ 66 w 413"/>
                <a:gd name="T11" fmla="*/ 107 h 283"/>
                <a:gd name="T12" fmla="*/ 173 w 413"/>
                <a:gd name="T13" fmla="*/ 0 h 283"/>
                <a:gd name="T14" fmla="*/ 273 w 413"/>
                <a:gd name="T15" fmla="*/ 69 h 283"/>
                <a:gd name="T16" fmla="*/ 273 w 413"/>
                <a:gd name="T17" fmla="*/ 69 h 283"/>
                <a:gd name="T18" fmla="*/ 346 w 413"/>
                <a:gd name="T19" fmla="*/ 135 h 283"/>
                <a:gd name="T20" fmla="*/ 413 w 413"/>
                <a:gd name="T21" fmla="*/ 209 h 283"/>
                <a:gd name="T22" fmla="*/ 341 w 413"/>
                <a:gd name="T23" fmla="*/ 283 h 283"/>
                <a:gd name="T24" fmla="*/ 340 w 413"/>
                <a:gd name="T25" fmla="*/ 283 h 283"/>
                <a:gd name="T26" fmla="*/ 73 w 413"/>
                <a:gd name="T27" fmla="*/ 268 h 283"/>
                <a:gd name="T28" fmla="*/ 339 w 413"/>
                <a:gd name="T29" fmla="*/ 268 h 283"/>
                <a:gd name="T30" fmla="*/ 340 w 413"/>
                <a:gd name="T31" fmla="*/ 268 h 283"/>
                <a:gd name="T32" fmla="*/ 398 w 413"/>
                <a:gd name="T33" fmla="*/ 209 h 283"/>
                <a:gd name="T34" fmla="*/ 339 w 413"/>
                <a:gd name="T35" fmla="*/ 150 h 283"/>
                <a:gd name="T36" fmla="*/ 332 w 413"/>
                <a:gd name="T37" fmla="*/ 142 h 283"/>
                <a:gd name="T38" fmla="*/ 273 w 413"/>
                <a:gd name="T39" fmla="*/ 83 h 283"/>
                <a:gd name="T40" fmla="*/ 268 w 413"/>
                <a:gd name="T41" fmla="*/ 84 h 283"/>
                <a:gd name="T42" fmla="*/ 261 w 413"/>
                <a:gd name="T43" fmla="*/ 79 h 283"/>
                <a:gd name="T44" fmla="*/ 173 w 413"/>
                <a:gd name="T45" fmla="*/ 15 h 283"/>
                <a:gd name="T46" fmla="*/ 81 w 413"/>
                <a:gd name="T47" fmla="*/ 107 h 283"/>
                <a:gd name="T48" fmla="*/ 87 w 413"/>
                <a:gd name="T49" fmla="*/ 140 h 283"/>
                <a:gd name="T50" fmla="*/ 86 w 413"/>
                <a:gd name="T51" fmla="*/ 147 h 283"/>
                <a:gd name="T52" fmla="*/ 79 w 413"/>
                <a:gd name="T53" fmla="*/ 150 h 283"/>
                <a:gd name="T54" fmla="*/ 73 w 413"/>
                <a:gd name="T55" fmla="*/ 150 h 283"/>
                <a:gd name="T56" fmla="*/ 14 w 413"/>
                <a:gd name="T57" fmla="*/ 209 h 283"/>
                <a:gd name="T58" fmla="*/ 73 w 413"/>
                <a:gd name="T59" fmla="*/ 268 h 283"/>
                <a:gd name="T60" fmla="*/ 73 w 413"/>
                <a:gd name="T61" fmla="*/ 268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3" h="283">
                  <a:moveTo>
                    <a:pt x="340" y="283"/>
                  </a:moveTo>
                  <a:cubicBezTo>
                    <a:pt x="73" y="283"/>
                    <a:pt x="73" y="283"/>
                    <a:pt x="73" y="283"/>
                  </a:cubicBezTo>
                  <a:cubicBezTo>
                    <a:pt x="73" y="283"/>
                    <a:pt x="72" y="283"/>
                    <a:pt x="72" y="283"/>
                  </a:cubicBezTo>
                  <a:cubicBezTo>
                    <a:pt x="32" y="282"/>
                    <a:pt x="0" y="249"/>
                    <a:pt x="0" y="209"/>
                  </a:cubicBezTo>
                  <a:cubicBezTo>
                    <a:pt x="0" y="169"/>
                    <a:pt x="31" y="137"/>
                    <a:pt x="70" y="135"/>
                  </a:cubicBezTo>
                  <a:cubicBezTo>
                    <a:pt x="67" y="126"/>
                    <a:pt x="66" y="117"/>
                    <a:pt x="66" y="107"/>
                  </a:cubicBezTo>
                  <a:cubicBezTo>
                    <a:pt x="66" y="48"/>
                    <a:pt x="114" y="0"/>
                    <a:pt x="173" y="0"/>
                  </a:cubicBezTo>
                  <a:cubicBezTo>
                    <a:pt x="217" y="0"/>
                    <a:pt x="257" y="27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311" y="69"/>
                    <a:pt x="343" y="98"/>
                    <a:pt x="346" y="135"/>
                  </a:cubicBezTo>
                  <a:cubicBezTo>
                    <a:pt x="384" y="139"/>
                    <a:pt x="413" y="171"/>
                    <a:pt x="413" y="209"/>
                  </a:cubicBezTo>
                  <a:cubicBezTo>
                    <a:pt x="413" y="249"/>
                    <a:pt x="381" y="282"/>
                    <a:pt x="341" y="283"/>
                  </a:cubicBezTo>
                  <a:cubicBezTo>
                    <a:pt x="340" y="283"/>
                    <a:pt x="340" y="283"/>
                    <a:pt x="340" y="283"/>
                  </a:cubicBezTo>
                  <a:close/>
                  <a:moveTo>
                    <a:pt x="73" y="268"/>
                  </a:moveTo>
                  <a:cubicBezTo>
                    <a:pt x="339" y="268"/>
                    <a:pt x="339" y="268"/>
                    <a:pt x="339" y="268"/>
                  </a:cubicBezTo>
                  <a:cubicBezTo>
                    <a:pt x="339" y="268"/>
                    <a:pt x="340" y="268"/>
                    <a:pt x="340" y="268"/>
                  </a:cubicBezTo>
                  <a:cubicBezTo>
                    <a:pt x="372" y="268"/>
                    <a:pt x="398" y="241"/>
                    <a:pt x="398" y="209"/>
                  </a:cubicBezTo>
                  <a:cubicBezTo>
                    <a:pt x="398" y="176"/>
                    <a:pt x="372" y="150"/>
                    <a:pt x="339" y="150"/>
                  </a:cubicBezTo>
                  <a:cubicBezTo>
                    <a:pt x="335" y="150"/>
                    <a:pt x="332" y="146"/>
                    <a:pt x="332" y="142"/>
                  </a:cubicBezTo>
                  <a:cubicBezTo>
                    <a:pt x="332" y="110"/>
                    <a:pt x="305" y="83"/>
                    <a:pt x="273" y="83"/>
                  </a:cubicBezTo>
                  <a:cubicBezTo>
                    <a:pt x="271" y="83"/>
                    <a:pt x="270" y="83"/>
                    <a:pt x="268" y="84"/>
                  </a:cubicBezTo>
                  <a:cubicBezTo>
                    <a:pt x="265" y="84"/>
                    <a:pt x="262" y="82"/>
                    <a:pt x="261" y="79"/>
                  </a:cubicBezTo>
                  <a:cubicBezTo>
                    <a:pt x="248" y="40"/>
                    <a:pt x="213" y="15"/>
                    <a:pt x="173" y="15"/>
                  </a:cubicBezTo>
                  <a:cubicBezTo>
                    <a:pt x="122" y="15"/>
                    <a:pt x="81" y="56"/>
                    <a:pt x="81" y="107"/>
                  </a:cubicBezTo>
                  <a:cubicBezTo>
                    <a:pt x="81" y="118"/>
                    <a:pt x="83" y="129"/>
                    <a:pt x="87" y="140"/>
                  </a:cubicBezTo>
                  <a:cubicBezTo>
                    <a:pt x="88" y="142"/>
                    <a:pt x="87" y="145"/>
                    <a:pt x="86" y="147"/>
                  </a:cubicBezTo>
                  <a:cubicBezTo>
                    <a:pt x="84" y="149"/>
                    <a:pt x="82" y="150"/>
                    <a:pt x="79" y="150"/>
                  </a:cubicBezTo>
                  <a:cubicBezTo>
                    <a:pt x="77" y="150"/>
                    <a:pt x="75" y="150"/>
                    <a:pt x="73" y="150"/>
                  </a:cubicBezTo>
                  <a:cubicBezTo>
                    <a:pt x="41" y="150"/>
                    <a:pt x="14" y="176"/>
                    <a:pt x="14" y="209"/>
                  </a:cubicBezTo>
                  <a:cubicBezTo>
                    <a:pt x="14" y="241"/>
                    <a:pt x="41" y="268"/>
                    <a:pt x="73" y="268"/>
                  </a:cubicBezTo>
                  <a:cubicBezTo>
                    <a:pt x="73" y="268"/>
                    <a:pt x="73" y="268"/>
                    <a:pt x="73" y="26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rgbClr val="15F2FA"/>
              </a:solidFill>
            </a:ln>
          </p:spPr>
          <p:txBody>
            <a:bodyPr lIns="91428" tIns="45715" rIns="91428" bIns="45715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146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0" name="直接连接符 19"/>
          <p:cNvCxnSpPr>
            <a:stCxn id="6" idx="4"/>
            <a:endCxn id="9" idx="1"/>
          </p:cNvCxnSpPr>
          <p:nvPr/>
        </p:nvCxnSpPr>
        <p:spPr>
          <a:xfrm>
            <a:off x="2927407" y="3589668"/>
            <a:ext cx="1409700" cy="954616"/>
          </a:xfrm>
          <a:prstGeom prst="line">
            <a:avLst/>
          </a:prstGeom>
          <a:ln>
            <a:solidFill>
              <a:srgbClr val="15F2F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0" idx="2"/>
            <a:endCxn id="9" idx="5"/>
          </p:cNvCxnSpPr>
          <p:nvPr/>
        </p:nvCxnSpPr>
        <p:spPr>
          <a:xfrm flipH="1">
            <a:off x="5444123" y="3646817"/>
            <a:ext cx="1409700" cy="897467"/>
          </a:xfrm>
          <a:prstGeom prst="line">
            <a:avLst/>
          </a:prstGeom>
          <a:ln>
            <a:solidFill>
              <a:srgbClr val="15F2F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1" idx="1"/>
            <a:endCxn id="10" idx="4"/>
          </p:cNvCxnSpPr>
          <p:nvPr/>
        </p:nvCxnSpPr>
        <p:spPr>
          <a:xfrm flipH="1" flipV="1">
            <a:off x="7537507" y="3646817"/>
            <a:ext cx="1409700" cy="897467"/>
          </a:xfrm>
          <a:prstGeom prst="line">
            <a:avLst/>
          </a:prstGeom>
          <a:ln>
            <a:solidFill>
              <a:srgbClr val="15F2F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632257" y="3288195"/>
            <a:ext cx="2592917" cy="4716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故障容错（快速恢复）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5954241" y="3862195"/>
            <a:ext cx="2592917" cy="9021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负载均衡</a:t>
            </a:r>
            <a:endParaRPr lang="en-US" altLang="zh-CN" sz="1865" dirty="0">
              <a:solidFill>
                <a:srgbClr val="15F2FA"/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（合理分配请求）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8547158" y="3019867"/>
            <a:ext cx="2592916" cy="9021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常用</a:t>
            </a:r>
            <a:r>
              <a:rPr lang="en-US" altLang="zh-CN" sz="1865" dirty="0">
                <a:solidFill>
                  <a:srgbClr val="15F2FA"/>
                </a:solidFill>
                <a:cs typeface="+mn-ea"/>
                <a:sym typeface="+mn-lt"/>
              </a:rPr>
              <a:t>Paxos</a:t>
            </a: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、</a:t>
            </a:r>
            <a:r>
              <a:rPr lang="en-US" altLang="zh-CN" sz="1865" dirty="0">
                <a:solidFill>
                  <a:srgbClr val="15F2FA"/>
                </a:solidFill>
                <a:cs typeface="+mn-ea"/>
                <a:sym typeface="+mn-lt"/>
              </a:rPr>
              <a:t>Raft</a:t>
            </a: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等算法保障稳定运行</a:t>
            </a:r>
          </a:p>
        </p:txBody>
      </p:sp>
    </p:spTree>
  </p:cSld>
  <p:clrMapOvr>
    <a:masterClrMapping/>
  </p:clrMapOvr>
  <p:transition advTm="9875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28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0970" y="226695"/>
            <a:ext cx="389064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15F2FA"/>
                </a:solidFill>
                <a:cs typeface="+mn-ea"/>
                <a:sym typeface="+mn-lt"/>
              </a:rPr>
              <a:t>Hadoop</a:t>
            </a:r>
            <a:endParaRPr lang="zh-CN" altLang="en-US" sz="2400" b="1" dirty="0">
              <a:solidFill>
                <a:srgbClr val="15F2FA"/>
              </a:solidFill>
              <a:cs typeface="+mn-ea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799888"/>
            <a:ext cx="12192000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Freeform 104"/>
          <p:cNvSpPr/>
          <p:nvPr/>
        </p:nvSpPr>
        <p:spPr bwMode="auto">
          <a:xfrm>
            <a:off x="6163799" y="4922544"/>
            <a:ext cx="1541616" cy="1674809"/>
          </a:xfrm>
          <a:custGeom>
            <a:avLst/>
            <a:gdLst>
              <a:gd name="T0" fmla="*/ 0 w 876"/>
              <a:gd name="T1" fmla="*/ 29138806 h 952"/>
              <a:gd name="T2" fmla="*/ 0 w 876"/>
              <a:gd name="T3" fmla="*/ 477871696 h 952"/>
              <a:gd name="T4" fmla="*/ 851127092 w 876"/>
              <a:gd name="T5" fmla="*/ 924662129 h 952"/>
              <a:gd name="T6" fmla="*/ 691784020 w 876"/>
              <a:gd name="T7" fmla="*/ 0 h 952"/>
              <a:gd name="T8" fmla="*/ 367267589 w 876"/>
              <a:gd name="T9" fmla="*/ 0 h 952"/>
              <a:gd name="T10" fmla="*/ 410017760 w 876"/>
              <a:gd name="T11" fmla="*/ 244763215 h 952"/>
              <a:gd name="T12" fmla="*/ 0 w 876"/>
              <a:gd name="T13" fmla="*/ 29138806 h 9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76" h="952">
                <a:moveTo>
                  <a:pt x="0" y="30"/>
                </a:moveTo>
                <a:lnTo>
                  <a:pt x="0" y="492"/>
                </a:lnTo>
                <a:lnTo>
                  <a:pt x="876" y="952"/>
                </a:lnTo>
                <a:lnTo>
                  <a:pt x="712" y="0"/>
                </a:lnTo>
                <a:lnTo>
                  <a:pt x="378" y="0"/>
                </a:lnTo>
                <a:lnTo>
                  <a:pt x="422" y="252"/>
                </a:lnTo>
                <a:lnTo>
                  <a:pt x="0" y="30"/>
                </a:lnTo>
                <a:close/>
              </a:path>
            </a:pathLst>
          </a:custGeom>
          <a:noFill/>
          <a:ln>
            <a:solidFill>
              <a:srgbClr val="15F2FA"/>
            </a:solidFill>
          </a:ln>
        </p:spPr>
        <p:txBody>
          <a:bodyPr lIns="162552" tIns="81276" rIns="162552" bIns="81276"/>
          <a:lstStyle/>
          <a:p>
            <a:pPr defTabSz="1624965"/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21" name="Freeform 106"/>
          <p:cNvSpPr/>
          <p:nvPr/>
        </p:nvSpPr>
        <p:spPr bwMode="auto">
          <a:xfrm>
            <a:off x="4182205" y="4897049"/>
            <a:ext cx="1547283" cy="1674807"/>
          </a:xfrm>
          <a:custGeom>
            <a:avLst/>
            <a:gdLst>
              <a:gd name="T0" fmla="*/ 854256123 w 878"/>
              <a:gd name="T1" fmla="*/ 29138806 h 952"/>
              <a:gd name="T2" fmla="*/ 443668360 w 878"/>
              <a:gd name="T3" fmla="*/ 244763215 h 952"/>
              <a:gd name="T4" fmla="*/ 484532161 w 878"/>
              <a:gd name="T5" fmla="*/ 0 h 952"/>
              <a:gd name="T6" fmla="*/ 159564590 w 878"/>
              <a:gd name="T7" fmla="*/ 0 h 952"/>
              <a:gd name="T8" fmla="*/ 0 w 878"/>
              <a:gd name="T9" fmla="*/ 924662129 h 952"/>
              <a:gd name="T10" fmla="*/ 854256123 w 878"/>
              <a:gd name="T11" fmla="*/ 477871696 h 952"/>
              <a:gd name="T12" fmla="*/ 854256123 w 878"/>
              <a:gd name="T13" fmla="*/ 29138806 h 9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78" h="952">
                <a:moveTo>
                  <a:pt x="878" y="30"/>
                </a:moveTo>
                <a:lnTo>
                  <a:pt x="456" y="252"/>
                </a:lnTo>
                <a:lnTo>
                  <a:pt x="498" y="0"/>
                </a:lnTo>
                <a:lnTo>
                  <a:pt x="164" y="0"/>
                </a:lnTo>
                <a:lnTo>
                  <a:pt x="0" y="952"/>
                </a:lnTo>
                <a:lnTo>
                  <a:pt x="878" y="492"/>
                </a:lnTo>
                <a:lnTo>
                  <a:pt x="878" y="30"/>
                </a:lnTo>
                <a:close/>
              </a:path>
            </a:pathLst>
          </a:custGeom>
          <a:noFill/>
          <a:ln>
            <a:solidFill>
              <a:srgbClr val="15F2FA"/>
            </a:solidFill>
          </a:ln>
        </p:spPr>
        <p:txBody>
          <a:bodyPr lIns="162552" tIns="81276" rIns="162552" bIns="81276"/>
          <a:lstStyle/>
          <a:p>
            <a:pPr defTabSz="1624965"/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22" name="Freeform 108"/>
          <p:cNvSpPr/>
          <p:nvPr/>
        </p:nvSpPr>
        <p:spPr bwMode="auto">
          <a:xfrm>
            <a:off x="5902800" y="1566224"/>
            <a:ext cx="2697829" cy="3173917"/>
          </a:xfrm>
          <a:custGeom>
            <a:avLst/>
            <a:gdLst>
              <a:gd name="T0" fmla="*/ 460241095 w 1534"/>
              <a:gd name="T1" fmla="*/ 934440516 h 1804"/>
              <a:gd name="T2" fmla="*/ 0 w 1534"/>
              <a:gd name="T3" fmla="*/ 0 h 1804"/>
              <a:gd name="T4" fmla="*/ 0 w 1534"/>
              <a:gd name="T5" fmla="*/ 679947018 h 1804"/>
              <a:gd name="T6" fmla="*/ 238859290 w 1534"/>
              <a:gd name="T7" fmla="*/ 1165622896 h 1804"/>
              <a:gd name="T8" fmla="*/ 774835825 w 1534"/>
              <a:gd name="T9" fmla="*/ 1243330563 h 1804"/>
              <a:gd name="T10" fmla="*/ 388389322 w 1534"/>
              <a:gd name="T11" fmla="*/ 1622157906 h 1804"/>
              <a:gd name="T12" fmla="*/ 409750474 w 1534"/>
              <a:gd name="T13" fmla="*/ 1752319530 h 1804"/>
              <a:gd name="T14" fmla="*/ 802023462 w 1534"/>
              <a:gd name="T15" fmla="*/ 1752319530 h 1804"/>
              <a:gd name="T16" fmla="*/ 1489471863 w 1534"/>
              <a:gd name="T17" fmla="*/ 1084029057 h 1804"/>
              <a:gd name="T18" fmla="*/ 460241095 w 1534"/>
              <a:gd name="T19" fmla="*/ 934440516 h 180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34" h="1804">
                <a:moveTo>
                  <a:pt x="474" y="962"/>
                </a:moveTo>
                <a:lnTo>
                  <a:pt x="0" y="0"/>
                </a:lnTo>
                <a:lnTo>
                  <a:pt x="0" y="700"/>
                </a:lnTo>
                <a:lnTo>
                  <a:pt x="246" y="1200"/>
                </a:lnTo>
                <a:lnTo>
                  <a:pt x="798" y="1280"/>
                </a:lnTo>
                <a:lnTo>
                  <a:pt x="400" y="1670"/>
                </a:lnTo>
                <a:lnTo>
                  <a:pt x="422" y="1804"/>
                </a:lnTo>
                <a:lnTo>
                  <a:pt x="826" y="1804"/>
                </a:lnTo>
                <a:lnTo>
                  <a:pt x="1534" y="1116"/>
                </a:lnTo>
                <a:lnTo>
                  <a:pt x="474" y="962"/>
                </a:lnTo>
                <a:close/>
              </a:path>
            </a:pathLst>
          </a:custGeom>
          <a:noFill/>
          <a:ln>
            <a:solidFill>
              <a:srgbClr val="15F2FA"/>
            </a:solidFill>
          </a:ln>
        </p:spPr>
        <p:txBody>
          <a:bodyPr lIns="162552" tIns="81276" rIns="162552" bIns="81276"/>
          <a:lstStyle/>
          <a:p>
            <a:pPr defTabSz="1624965"/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23" name="Freeform 109"/>
          <p:cNvSpPr/>
          <p:nvPr/>
        </p:nvSpPr>
        <p:spPr bwMode="auto">
          <a:xfrm>
            <a:off x="3235955" y="1577563"/>
            <a:ext cx="2697829" cy="3173917"/>
          </a:xfrm>
          <a:custGeom>
            <a:avLst/>
            <a:gdLst>
              <a:gd name="T0" fmla="*/ 1029230767 w 1534"/>
              <a:gd name="T1" fmla="*/ 934440516 h 1804"/>
              <a:gd name="T2" fmla="*/ 0 w 1534"/>
              <a:gd name="T3" fmla="*/ 1084029057 h 1804"/>
              <a:gd name="T4" fmla="*/ 687448400 w 1534"/>
              <a:gd name="T5" fmla="*/ 1752319530 h 1804"/>
              <a:gd name="T6" fmla="*/ 1079721389 w 1534"/>
              <a:gd name="T7" fmla="*/ 1752319530 h 1804"/>
              <a:gd name="T8" fmla="*/ 1103024374 w 1534"/>
              <a:gd name="T9" fmla="*/ 1622157906 h 1804"/>
              <a:gd name="T10" fmla="*/ 714636037 w 1534"/>
              <a:gd name="T11" fmla="*/ 1243330563 h 1804"/>
              <a:gd name="T12" fmla="*/ 1250612572 w 1534"/>
              <a:gd name="T13" fmla="*/ 1165622896 h 1804"/>
              <a:gd name="T14" fmla="*/ 1489471863 w 1534"/>
              <a:gd name="T15" fmla="*/ 679947018 h 1804"/>
              <a:gd name="T16" fmla="*/ 1489471863 w 1534"/>
              <a:gd name="T17" fmla="*/ 0 h 1804"/>
              <a:gd name="T18" fmla="*/ 1029230767 w 1534"/>
              <a:gd name="T19" fmla="*/ 934440516 h 180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34" h="1804">
                <a:moveTo>
                  <a:pt x="1060" y="962"/>
                </a:moveTo>
                <a:lnTo>
                  <a:pt x="0" y="1116"/>
                </a:lnTo>
                <a:lnTo>
                  <a:pt x="708" y="1804"/>
                </a:lnTo>
                <a:lnTo>
                  <a:pt x="1112" y="1804"/>
                </a:lnTo>
                <a:lnTo>
                  <a:pt x="1136" y="1670"/>
                </a:lnTo>
                <a:lnTo>
                  <a:pt x="736" y="1280"/>
                </a:lnTo>
                <a:lnTo>
                  <a:pt x="1288" y="1200"/>
                </a:lnTo>
                <a:lnTo>
                  <a:pt x="1534" y="700"/>
                </a:lnTo>
                <a:lnTo>
                  <a:pt x="1534" y="0"/>
                </a:lnTo>
                <a:lnTo>
                  <a:pt x="1060" y="962"/>
                </a:lnTo>
                <a:close/>
              </a:path>
            </a:pathLst>
          </a:custGeom>
          <a:noFill/>
          <a:ln>
            <a:solidFill>
              <a:srgbClr val="15F2FA"/>
            </a:solidFill>
          </a:ln>
        </p:spPr>
        <p:txBody>
          <a:bodyPr lIns="162552" tIns="81276" rIns="162552" bIns="81276"/>
          <a:lstStyle/>
          <a:p>
            <a:pPr defTabSz="1624965"/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24" name="Freeform 121"/>
          <p:cNvSpPr/>
          <p:nvPr/>
        </p:nvSpPr>
        <p:spPr bwMode="auto">
          <a:xfrm>
            <a:off x="5540211" y="4020458"/>
            <a:ext cx="340063" cy="337228"/>
          </a:xfrm>
          <a:custGeom>
            <a:avLst/>
            <a:gdLst>
              <a:gd name="T0" fmla="*/ 187748664 w 192"/>
              <a:gd name="T1" fmla="*/ 93092784 h 192"/>
              <a:gd name="T2" fmla="*/ 187748664 w 192"/>
              <a:gd name="T3" fmla="*/ 93092784 h 192"/>
              <a:gd name="T4" fmla="*/ 185793063 w 192"/>
              <a:gd name="T5" fmla="*/ 112486868 h 192"/>
              <a:gd name="T6" fmla="*/ 179926258 w 192"/>
              <a:gd name="T7" fmla="*/ 129941642 h 192"/>
              <a:gd name="T8" fmla="*/ 170147258 w 192"/>
              <a:gd name="T9" fmla="*/ 145457106 h 192"/>
              <a:gd name="T10" fmla="*/ 160368258 w 192"/>
              <a:gd name="T11" fmla="*/ 159032277 h 192"/>
              <a:gd name="T12" fmla="*/ 146679047 w 192"/>
              <a:gd name="T13" fmla="*/ 170669121 h 192"/>
              <a:gd name="T14" fmla="*/ 129077641 w 192"/>
              <a:gd name="T15" fmla="*/ 178427345 h 192"/>
              <a:gd name="T16" fmla="*/ 113431836 w 192"/>
              <a:gd name="T17" fmla="*/ 184245275 h 192"/>
              <a:gd name="T18" fmla="*/ 93874828 w 192"/>
              <a:gd name="T19" fmla="*/ 186184585 h 192"/>
              <a:gd name="T20" fmla="*/ 93874828 w 192"/>
              <a:gd name="T21" fmla="*/ 186184585 h 192"/>
              <a:gd name="T22" fmla="*/ 74316828 w 192"/>
              <a:gd name="T23" fmla="*/ 184245275 h 192"/>
              <a:gd name="T24" fmla="*/ 56715422 w 192"/>
              <a:gd name="T25" fmla="*/ 178427345 h 192"/>
              <a:gd name="T26" fmla="*/ 41069617 w 192"/>
              <a:gd name="T27" fmla="*/ 170669121 h 192"/>
              <a:gd name="T28" fmla="*/ 27380406 w 192"/>
              <a:gd name="T29" fmla="*/ 159032277 h 192"/>
              <a:gd name="T30" fmla="*/ 15645805 w 192"/>
              <a:gd name="T31" fmla="*/ 145457106 h 192"/>
              <a:gd name="T32" fmla="*/ 7822406 w 192"/>
              <a:gd name="T33" fmla="*/ 129941642 h 192"/>
              <a:gd name="T34" fmla="*/ 1955602 w 192"/>
              <a:gd name="T35" fmla="*/ 112486868 h 192"/>
              <a:gd name="T36" fmla="*/ 0 w 192"/>
              <a:gd name="T37" fmla="*/ 93092784 h 192"/>
              <a:gd name="T38" fmla="*/ 0 w 192"/>
              <a:gd name="T39" fmla="*/ 93092784 h 192"/>
              <a:gd name="T40" fmla="*/ 1955602 w 192"/>
              <a:gd name="T41" fmla="*/ 73697716 h 192"/>
              <a:gd name="T42" fmla="*/ 7822406 w 192"/>
              <a:gd name="T43" fmla="*/ 56242942 h 192"/>
              <a:gd name="T44" fmla="*/ 15645805 w 192"/>
              <a:gd name="T45" fmla="*/ 40727478 h 192"/>
              <a:gd name="T46" fmla="*/ 27380406 w 192"/>
              <a:gd name="T47" fmla="*/ 27152308 h 192"/>
              <a:gd name="T48" fmla="*/ 41069617 w 192"/>
              <a:gd name="T49" fmla="*/ 17454774 h 192"/>
              <a:gd name="T50" fmla="*/ 56715422 w 192"/>
              <a:gd name="T51" fmla="*/ 7757240 h 192"/>
              <a:gd name="T52" fmla="*/ 74316828 w 192"/>
              <a:gd name="T53" fmla="*/ 1939310 h 192"/>
              <a:gd name="T54" fmla="*/ 93874828 w 192"/>
              <a:gd name="T55" fmla="*/ 0 h 192"/>
              <a:gd name="T56" fmla="*/ 93874828 w 192"/>
              <a:gd name="T57" fmla="*/ 0 h 192"/>
              <a:gd name="T58" fmla="*/ 113431836 w 192"/>
              <a:gd name="T59" fmla="*/ 1939310 h 192"/>
              <a:gd name="T60" fmla="*/ 129077641 w 192"/>
              <a:gd name="T61" fmla="*/ 7757240 h 192"/>
              <a:gd name="T62" fmla="*/ 146679047 w 192"/>
              <a:gd name="T63" fmla="*/ 17454774 h 192"/>
              <a:gd name="T64" fmla="*/ 160368258 w 192"/>
              <a:gd name="T65" fmla="*/ 27152308 h 192"/>
              <a:gd name="T66" fmla="*/ 170147258 w 192"/>
              <a:gd name="T67" fmla="*/ 40727478 h 192"/>
              <a:gd name="T68" fmla="*/ 179926258 w 192"/>
              <a:gd name="T69" fmla="*/ 56242942 h 192"/>
              <a:gd name="T70" fmla="*/ 185793063 w 192"/>
              <a:gd name="T71" fmla="*/ 73697716 h 192"/>
              <a:gd name="T72" fmla="*/ 187748664 w 192"/>
              <a:gd name="T73" fmla="*/ 93092784 h 192"/>
              <a:gd name="T74" fmla="*/ 187748664 w 192"/>
              <a:gd name="T75" fmla="*/ 93092784 h 19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92" h="192">
                <a:moveTo>
                  <a:pt x="192" y="96"/>
                </a:moveTo>
                <a:lnTo>
                  <a:pt x="192" y="96"/>
                </a:lnTo>
                <a:lnTo>
                  <a:pt x="190" y="116"/>
                </a:lnTo>
                <a:lnTo>
                  <a:pt x="184" y="134"/>
                </a:lnTo>
                <a:lnTo>
                  <a:pt x="174" y="150"/>
                </a:lnTo>
                <a:lnTo>
                  <a:pt x="164" y="164"/>
                </a:lnTo>
                <a:lnTo>
                  <a:pt x="150" y="176"/>
                </a:lnTo>
                <a:lnTo>
                  <a:pt x="132" y="184"/>
                </a:lnTo>
                <a:lnTo>
                  <a:pt x="116" y="190"/>
                </a:lnTo>
                <a:lnTo>
                  <a:pt x="96" y="192"/>
                </a:lnTo>
                <a:lnTo>
                  <a:pt x="76" y="190"/>
                </a:lnTo>
                <a:lnTo>
                  <a:pt x="58" y="184"/>
                </a:lnTo>
                <a:lnTo>
                  <a:pt x="42" y="176"/>
                </a:lnTo>
                <a:lnTo>
                  <a:pt x="28" y="164"/>
                </a:lnTo>
                <a:lnTo>
                  <a:pt x="16" y="150"/>
                </a:lnTo>
                <a:lnTo>
                  <a:pt x="8" y="134"/>
                </a:lnTo>
                <a:lnTo>
                  <a:pt x="2" y="116"/>
                </a:lnTo>
                <a:lnTo>
                  <a:pt x="0" y="96"/>
                </a:lnTo>
                <a:lnTo>
                  <a:pt x="2" y="76"/>
                </a:lnTo>
                <a:lnTo>
                  <a:pt x="8" y="58"/>
                </a:lnTo>
                <a:lnTo>
                  <a:pt x="16" y="42"/>
                </a:lnTo>
                <a:lnTo>
                  <a:pt x="28" y="28"/>
                </a:lnTo>
                <a:lnTo>
                  <a:pt x="42" y="18"/>
                </a:lnTo>
                <a:lnTo>
                  <a:pt x="58" y="8"/>
                </a:lnTo>
                <a:lnTo>
                  <a:pt x="76" y="2"/>
                </a:lnTo>
                <a:lnTo>
                  <a:pt x="96" y="0"/>
                </a:lnTo>
                <a:lnTo>
                  <a:pt x="116" y="2"/>
                </a:lnTo>
                <a:lnTo>
                  <a:pt x="132" y="8"/>
                </a:lnTo>
                <a:lnTo>
                  <a:pt x="150" y="18"/>
                </a:lnTo>
                <a:lnTo>
                  <a:pt x="164" y="28"/>
                </a:lnTo>
                <a:lnTo>
                  <a:pt x="174" y="42"/>
                </a:lnTo>
                <a:lnTo>
                  <a:pt x="184" y="58"/>
                </a:lnTo>
                <a:lnTo>
                  <a:pt x="190" y="76"/>
                </a:lnTo>
                <a:lnTo>
                  <a:pt x="192" y="96"/>
                </a:lnTo>
                <a:close/>
              </a:path>
            </a:pathLst>
          </a:custGeom>
          <a:noFill/>
          <a:ln>
            <a:solidFill>
              <a:srgbClr val="15F2FA"/>
            </a:solidFill>
          </a:ln>
        </p:spPr>
        <p:txBody>
          <a:bodyPr lIns="162552" tIns="81276" rIns="162552" bIns="81276"/>
          <a:lstStyle/>
          <a:p>
            <a:pPr defTabSz="1624965"/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25" name="Freeform 122"/>
          <p:cNvSpPr/>
          <p:nvPr/>
        </p:nvSpPr>
        <p:spPr bwMode="auto">
          <a:xfrm>
            <a:off x="5955639" y="3953219"/>
            <a:ext cx="422245" cy="422247"/>
          </a:xfrm>
          <a:custGeom>
            <a:avLst/>
            <a:gdLst>
              <a:gd name="T0" fmla="*/ 233121011 w 240"/>
              <a:gd name="T1" fmla="*/ 116560999 h 240"/>
              <a:gd name="T2" fmla="*/ 233121011 w 240"/>
              <a:gd name="T3" fmla="*/ 116560999 h 240"/>
              <a:gd name="T4" fmla="*/ 231178451 w 240"/>
              <a:gd name="T5" fmla="*/ 128217394 h 240"/>
              <a:gd name="T6" fmla="*/ 231178451 w 240"/>
              <a:gd name="T7" fmla="*/ 139872804 h 240"/>
              <a:gd name="T8" fmla="*/ 223407225 w 240"/>
              <a:gd name="T9" fmla="*/ 161243027 h 240"/>
              <a:gd name="T10" fmla="*/ 211751865 w 240"/>
              <a:gd name="T11" fmla="*/ 180669696 h 240"/>
              <a:gd name="T12" fmla="*/ 198152958 w 240"/>
              <a:gd name="T13" fmla="*/ 198153796 h 240"/>
              <a:gd name="T14" fmla="*/ 180668932 w 240"/>
              <a:gd name="T15" fmla="*/ 211752760 h 240"/>
              <a:gd name="T16" fmla="*/ 161242345 w 240"/>
              <a:gd name="T17" fmla="*/ 223408170 h 240"/>
              <a:gd name="T18" fmla="*/ 139872213 w 240"/>
              <a:gd name="T19" fmla="*/ 229236860 h 240"/>
              <a:gd name="T20" fmla="*/ 128216852 w 240"/>
              <a:gd name="T21" fmla="*/ 231179429 h 240"/>
              <a:gd name="T22" fmla="*/ 116560506 w 240"/>
              <a:gd name="T23" fmla="*/ 233121997 h 240"/>
              <a:gd name="T24" fmla="*/ 116560506 w 240"/>
              <a:gd name="T25" fmla="*/ 233121997 h 240"/>
              <a:gd name="T26" fmla="*/ 104904160 w 240"/>
              <a:gd name="T27" fmla="*/ 231179429 h 240"/>
              <a:gd name="T28" fmla="*/ 93248799 w 240"/>
              <a:gd name="T29" fmla="*/ 229236860 h 240"/>
              <a:gd name="T30" fmla="*/ 69936106 w 240"/>
              <a:gd name="T31" fmla="*/ 223408170 h 240"/>
              <a:gd name="T32" fmla="*/ 50509520 w 240"/>
              <a:gd name="T33" fmla="*/ 211752760 h 240"/>
              <a:gd name="T34" fmla="*/ 33025493 w 240"/>
              <a:gd name="T35" fmla="*/ 198153796 h 240"/>
              <a:gd name="T36" fmla="*/ 19426587 w 240"/>
              <a:gd name="T37" fmla="*/ 180669696 h 240"/>
              <a:gd name="T38" fmla="*/ 7770240 w 240"/>
              <a:gd name="T39" fmla="*/ 161243027 h 240"/>
              <a:gd name="T40" fmla="*/ 1942560 w 240"/>
              <a:gd name="T41" fmla="*/ 139872804 h 240"/>
              <a:gd name="T42" fmla="*/ 0 w 240"/>
              <a:gd name="T43" fmla="*/ 128217394 h 240"/>
              <a:gd name="T44" fmla="*/ 0 w 240"/>
              <a:gd name="T45" fmla="*/ 116560999 h 240"/>
              <a:gd name="T46" fmla="*/ 0 w 240"/>
              <a:gd name="T47" fmla="*/ 116560999 h 240"/>
              <a:gd name="T48" fmla="*/ 0 w 240"/>
              <a:gd name="T49" fmla="*/ 104904603 h 240"/>
              <a:gd name="T50" fmla="*/ 1942560 w 240"/>
              <a:gd name="T51" fmla="*/ 93249193 h 240"/>
              <a:gd name="T52" fmla="*/ 7770240 w 240"/>
              <a:gd name="T53" fmla="*/ 69936402 h 240"/>
              <a:gd name="T54" fmla="*/ 19426587 w 240"/>
              <a:gd name="T55" fmla="*/ 50509733 h 240"/>
              <a:gd name="T56" fmla="*/ 33025493 w 240"/>
              <a:gd name="T57" fmla="*/ 33025633 h 240"/>
              <a:gd name="T58" fmla="*/ 50509520 w 240"/>
              <a:gd name="T59" fmla="*/ 19426669 h 240"/>
              <a:gd name="T60" fmla="*/ 69936106 w 240"/>
              <a:gd name="T61" fmla="*/ 7770273 h 240"/>
              <a:gd name="T62" fmla="*/ 93248799 w 240"/>
              <a:gd name="T63" fmla="*/ 1942568 h 240"/>
              <a:gd name="T64" fmla="*/ 104904160 w 240"/>
              <a:gd name="T65" fmla="*/ 0 h 240"/>
              <a:gd name="T66" fmla="*/ 116560506 w 240"/>
              <a:gd name="T67" fmla="*/ 0 h 240"/>
              <a:gd name="T68" fmla="*/ 116560506 w 240"/>
              <a:gd name="T69" fmla="*/ 0 h 240"/>
              <a:gd name="T70" fmla="*/ 128216852 w 240"/>
              <a:gd name="T71" fmla="*/ 0 h 240"/>
              <a:gd name="T72" fmla="*/ 139872213 w 240"/>
              <a:gd name="T73" fmla="*/ 1942568 h 240"/>
              <a:gd name="T74" fmla="*/ 161242345 w 240"/>
              <a:gd name="T75" fmla="*/ 7770273 h 240"/>
              <a:gd name="T76" fmla="*/ 180668932 w 240"/>
              <a:gd name="T77" fmla="*/ 19426669 h 240"/>
              <a:gd name="T78" fmla="*/ 198152958 w 240"/>
              <a:gd name="T79" fmla="*/ 33025633 h 240"/>
              <a:gd name="T80" fmla="*/ 211751865 w 240"/>
              <a:gd name="T81" fmla="*/ 50509733 h 240"/>
              <a:gd name="T82" fmla="*/ 223407225 w 240"/>
              <a:gd name="T83" fmla="*/ 69936402 h 240"/>
              <a:gd name="T84" fmla="*/ 231178451 w 240"/>
              <a:gd name="T85" fmla="*/ 93249193 h 240"/>
              <a:gd name="T86" fmla="*/ 231178451 w 240"/>
              <a:gd name="T87" fmla="*/ 104904603 h 240"/>
              <a:gd name="T88" fmla="*/ 233121011 w 240"/>
              <a:gd name="T89" fmla="*/ 116560999 h 240"/>
              <a:gd name="T90" fmla="*/ 233121011 w 240"/>
              <a:gd name="T91" fmla="*/ 116560999 h 240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0" h="240">
                <a:moveTo>
                  <a:pt x="240" y="120"/>
                </a:moveTo>
                <a:lnTo>
                  <a:pt x="240" y="120"/>
                </a:lnTo>
                <a:lnTo>
                  <a:pt x="238" y="132"/>
                </a:lnTo>
                <a:lnTo>
                  <a:pt x="238" y="144"/>
                </a:lnTo>
                <a:lnTo>
                  <a:pt x="230" y="166"/>
                </a:lnTo>
                <a:lnTo>
                  <a:pt x="218" y="186"/>
                </a:lnTo>
                <a:lnTo>
                  <a:pt x="204" y="204"/>
                </a:lnTo>
                <a:lnTo>
                  <a:pt x="186" y="218"/>
                </a:lnTo>
                <a:lnTo>
                  <a:pt x="166" y="230"/>
                </a:lnTo>
                <a:lnTo>
                  <a:pt x="144" y="236"/>
                </a:lnTo>
                <a:lnTo>
                  <a:pt x="132" y="238"/>
                </a:lnTo>
                <a:lnTo>
                  <a:pt x="120" y="240"/>
                </a:lnTo>
                <a:lnTo>
                  <a:pt x="108" y="238"/>
                </a:lnTo>
                <a:lnTo>
                  <a:pt x="96" y="236"/>
                </a:lnTo>
                <a:lnTo>
                  <a:pt x="72" y="230"/>
                </a:lnTo>
                <a:lnTo>
                  <a:pt x="52" y="218"/>
                </a:lnTo>
                <a:lnTo>
                  <a:pt x="34" y="204"/>
                </a:lnTo>
                <a:lnTo>
                  <a:pt x="20" y="186"/>
                </a:lnTo>
                <a:lnTo>
                  <a:pt x="8" y="166"/>
                </a:lnTo>
                <a:lnTo>
                  <a:pt x="2" y="144"/>
                </a:lnTo>
                <a:lnTo>
                  <a:pt x="0" y="132"/>
                </a:lnTo>
                <a:lnTo>
                  <a:pt x="0" y="120"/>
                </a:lnTo>
                <a:lnTo>
                  <a:pt x="0" y="108"/>
                </a:lnTo>
                <a:lnTo>
                  <a:pt x="2" y="96"/>
                </a:lnTo>
                <a:lnTo>
                  <a:pt x="8" y="72"/>
                </a:lnTo>
                <a:lnTo>
                  <a:pt x="20" y="52"/>
                </a:lnTo>
                <a:lnTo>
                  <a:pt x="34" y="34"/>
                </a:lnTo>
                <a:lnTo>
                  <a:pt x="52" y="20"/>
                </a:lnTo>
                <a:lnTo>
                  <a:pt x="72" y="8"/>
                </a:lnTo>
                <a:lnTo>
                  <a:pt x="96" y="2"/>
                </a:lnTo>
                <a:lnTo>
                  <a:pt x="108" y="0"/>
                </a:lnTo>
                <a:lnTo>
                  <a:pt x="120" y="0"/>
                </a:lnTo>
                <a:lnTo>
                  <a:pt x="132" y="0"/>
                </a:lnTo>
                <a:lnTo>
                  <a:pt x="144" y="2"/>
                </a:lnTo>
                <a:lnTo>
                  <a:pt x="166" y="8"/>
                </a:lnTo>
                <a:lnTo>
                  <a:pt x="186" y="20"/>
                </a:lnTo>
                <a:lnTo>
                  <a:pt x="204" y="34"/>
                </a:lnTo>
                <a:lnTo>
                  <a:pt x="218" y="52"/>
                </a:lnTo>
                <a:lnTo>
                  <a:pt x="230" y="72"/>
                </a:lnTo>
                <a:lnTo>
                  <a:pt x="238" y="96"/>
                </a:lnTo>
                <a:lnTo>
                  <a:pt x="238" y="108"/>
                </a:lnTo>
                <a:lnTo>
                  <a:pt x="240" y="120"/>
                </a:lnTo>
                <a:close/>
              </a:path>
            </a:pathLst>
          </a:custGeom>
          <a:noFill/>
          <a:ln>
            <a:solidFill>
              <a:srgbClr val="15F2FA"/>
            </a:solidFill>
          </a:ln>
        </p:spPr>
        <p:txBody>
          <a:bodyPr lIns="162552" tIns="81276" rIns="162552" bIns="81276"/>
          <a:lstStyle/>
          <a:p>
            <a:pPr defTabSz="1624965"/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26" name="Freeform 123"/>
          <p:cNvSpPr/>
          <p:nvPr/>
        </p:nvSpPr>
        <p:spPr bwMode="auto">
          <a:xfrm>
            <a:off x="5540211" y="4425695"/>
            <a:ext cx="340063" cy="331563"/>
          </a:xfrm>
          <a:custGeom>
            <a:avLst/>
            <a:gdLst>
              <a:gd name="T0" fmla="*/ 187748664 w 192"/>
              <a:gd name="T1" fmla="*/ 90563894 h 190"/>
              <a:gd name="T2" fmla="*/ 187748664 w 192"/>
              <a:gd name="T3" fmla="*/ 90563894 h 190"/>
              <a:gd name="T4" fmla="*/ 185793063 w 192"/>
              <a:gd name="T5" fmla="*/ 109833722 h 190"/>
              <a:gd name="T6" fmla="*/ 179926258 w 192"/>
              <a:gd name="T7" fmla="*/ 127175786 h 190"/>
              <a:gd name="T8" fmla="*/ 170147258 w 192"/>
              <a:gd name="T9" fmla="*/ 142591063 h 190"/>
              <a:gd name="T10" fmla="*/ 160368258 w 192"/>
              <a:gd name="T11" fmla="*/ 156078574 h 190"/>
              <a:gd name="T12" fmla="*/ 146679047 w 192"/>
              <a:gd name="T13" fmla="*/ 167640276 h 190"/>
              <a:gd name="T14" fmla="*/ 129077641 w 192"/>
              <a:gd name="T15" fmla="*/ 175348403 h 190"/>
              <a:gd name="T16" fmla="*/ 113431836 w 192"/>
              <a:gd name="T17" fmla="*/ 181128765 h 190"/>
              <a:gd name="T18" fmla="*/ 93874828 w 192"/>
              <a:gd name="T19" fmla="*/ 183055552 h 190"/>
              <a:gd name="T20" fmla="*/ 93874828 w 192"/>
              <a:gd name="T21" fmla="*/ 183055552 h 190"/>
              <a:gd name="T22" fmla="*/ 74316828 w 192"/>
              <a:gd name="T23" fmla="*/ 181128765 h 190"/>
              <a:gd name="T24" fmla="*/ 56715422 w 192"/>
              <a:gd name="T25" fmla="*/ 175348403 h 190"/>
              <a:gd name="T26" fmla="*/ 41069617 w 192"/>
              <a:gd name="T27" fmla="*/ 167640276 h 190"/>
              <a:gd name="T28" fmla="*/ 27380406 w 192"/>
              <a:gd name="T29" fmla="*/ 156078574 h 190"/>
              <a:gd name="T30" fmla="*/ 15645805 w 192"/>
              <a:gd name="T31" fmla="*/ 142591063 h 190"/>
              <a:gd name="T32" fmla="*/ 7822406 w 192"/>
              <a:gd name="T33" fmla="*/ 127175786 h 190"/>
              <a:gd name="T34" fmla="*/ 1955602 w 192"/>
              <a:gd name="T35" fmla="*/ 109833722 h 190"/>
              <a:gd name="T36" fmla="*/ 0 w 192"/>
              <a:gd name="T37" fmla="*/ 90563894 h 190"/>
              <a:gd name="T38" fmla="*/ 0 w 192"/>
              <a:gd name="T39" fmla="*/ 90563894 h 190"/>
              <a:gd name="T40" fmla="*/ 1955602 w 192"/>
              <a:gd name="T41" fmla="*/ 73221830 h 190"/>
              <a:gd name="T42" fmla="*/ 7822406 w 192"/>
              <a:gd name="T43" fmla="*/ 55879766 h 190"/>
              <a:gd name="T44" fmla="*/ 15645805 w 192"/>
              <a:gd name="T45" fmla="*/ 40464490 h 190"/>
              <a:gd name="T46" fmla="*/ 27380406 w 192"/>
              <a:gd name="T47" fmla="*/ 26976978 h 190"/>
              <a:gd name="T48" fmla="*/ 41069617 w 192"/>
              <a:gd name="T49" fmla="*/ 15415276 h 190"/>
              <a:gd name="T50" fmla="*/ 56715422 w 192"/>
              <a:gd name="T51" fmla="*/ 7707149 h 190"/>
              <a:gd name="T52" fmla="*/ 74316828 w 192"/>
              <a:gd name="T53" fmla="*/ 1926787 h 190"/>
              <a:gd name="T54" fmla="*/ 93874828 w 192"/>
              <a:gd name="T55" fmla="*/ 0 h 190"/>
              <a:gd name="T56" fmla="*/ 93874828 w 192"/>
              <a:gd name="T57" fmla="*/ 0 h 190"/>
              <a:gd name="T58" fmla="*/ 113431836 w 192"/>
              <a:gd name="T59" fmla="*/ 1926787 h 190"/>
              <a:gd name="T60" fmla="*/ 129077641 w 192"/>
              <a:gd name="T61" fmla="*/ 7707149 h 190"/>
              <a:gd name="T62" fmla="*/ 146679047 w 192"/>
              <a:gd name="T63" fmla="*/ 15415276 h 190"/>
              <a:gd name="T64" fmla="*/ 160368258 w 192"/>
              <a:gd name="T65" fmla="*/ 26976978 h 190"/>
              <a:gd name="T66" fmla="*/ 170147258 w 192"/>
              <a:gd name="T67" fmla="*/ 40464490 h 190"/>
              <a:gd name="T68" fmla="*/ 179926258 w 192"/>
              <a:gd name="T69" fmla="*/ 55879766 h 190"/>
              <a:gd name="T70" fmla="*/ 185793063 w 192"/>
              <a:gd name="T71" fmla="*/ 73221830 h 190"/>
              <a:gd name="T72" fmla="*/ 187748664 w 192"/>
              <a:gd name="T73" fmla="*/ 90563894 h 190"/>
              <a:gd name="T74" fmla="*/ 187748664 w 192"/>
              <a:gd name="T75" fmla="*/ 90563894 h 1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92" h="190">
                <a:moveTo>
                  <a:pt x="192" y="94"/>
                </a:moveTo>
                <a:lnTo>
                  <a:pt x="192" y="94"/>
                </a:lnTo>
                <a:lnTo>
                  <a:pt x="190" y="114"/>
                </a:lnTo>
                <a:lnTo>
                  <a:pt x="184" y="132"/>
                </a:lnTo>
                <a:lnTo>
                  <a:pt x="174" y="148"/>
                </a:lnTo>
                <a:lnTo>
                  <a:pt x="164" y="162"/>
                </a:lnTo>
                <a:lnTo>
                  <a:pt x="150" y="174"/>
                </a:lnTo>
                <a:lnTo>
                  <a:pt x="132" y="182"/>
                </a:lnTo>
                <a:lnTo>
                  <a:pt x="116" y="188"/>
                </a:lnTo>
                <a:lnTo>
                  <a:pt x="96" y="190"/>
                </a:lnTo>
                <a:lnTo>
                  <a:pt x="76" y="188"/>
                </a:lnTo>
                <a:lnTo>
                  <a:pt x="58" y="182"/>
                </a:lnTo>
                <a:lnTo>
                  <a:pt x="42" y="174"/>
                </a:lnTo>
                <a:lnTo>
                  <a:pt x="28" y="162"/>
                </a:lnTo>
                <a:lnTo>
                  <a:pt x="16" y="148"/>
                </a:lnTo>
                <a:lnTo>
                  <a:pt x="8" y="132"/>
                </a:lnTo>
                <a:lnTo>
                  <a:pt x="2" y="114"/>
                </a:lnTo>
                <a:lnTo>
                  <a:pt x="0" y="94"/>
                </a:lnTo>
                <a:lnTo>
                  <a:pt x="2" y="76"/>
                </a:lnTo>
                <a:lnTo>
                  <a:pt x="8" y="58"/>
                </a:lnTo>
                <a:lnTo>
                  <a:pt x="16" y="42"/>
                </a:lnTo>
                <a:lnTo>
                  <a:pt x="28" y="28"/>
                </a:lnTo>
                <a:lnTo>
                  <a:pt x="42" y="16"/>
                </a:lnTo>
                <a:lnTo>
                  <a:pt x="58" y="8"/>
                </a:lnTo>
                <a:lnTo>
                  <a:pt x="76" y="2"/>
                </a:lnTo>
                <a:lnTo>
                  <a:pt x="96" y="0"/>
                </a:lnTo>
                <a:lnTo>
                  <a:pt x="116" y="2"/>
                </a:lnTo>
                <a:lnTo>
                  <a:pt x="132" y="8"/>
                </a:lnTo>
                <a:lnTo>
                  <a:pt x="150" y="16"/>
                </a:lnTo>
                <a:lnTo>
                  <a:pt x="164" y="28"/>
                </a:lnTo>
                <a:lnTo>
                  <a:pt x="174" y="42"/>
                </a:lnTo>
                <a:lnTo>
                  <a:pt x="184" y="58"/>
                </a:lnTo>
                <a:lnTo>
                  <a:pt x="190" y="76"/>
                </a:lnTo>
                <a:lnTo>
                  <a:pt x="192" y="94"/>
                </a:lnTo>
                <a:close/>
              </a:path>
            </a:pathLst>
          </a:custGeom>
          <a:noFill/>
          <a:ln>
            <a:solidFill>
              <a:srgbClr val="15F2FA"/>
            </a:solidFill>
          </a:ln>
        </p:spPr>
        <p:txBody>
          <a:bodyPr lIns="162552" tIns="81276" rIns="162552" bIns="81276"/>
          <a:lstStyle/>
          <a:p>
            <a:pPr defTabSz="1624965"/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27" name="Freeform 124"/>
          <p:cNvSpPr/>
          <p:nvPr/>
        </p:nvSpPr>
        <p:spPr bwMode="auto">
          <a:xfrm>
            <a:off x="5942978" y="4425695"/>
            <a:ext cx="334397" cy="331563"/>
          </a:xfrm>
          <a:custGeom>
            <a:avLst/>
            <a:gdLst>
              <a:gd name="T0" fmla="*/ 184619633 w 190"/>
              <a:gd name="T1" fmla="*/ 90563894 h 190"/>
              <a:gd name="T2" fmla="*/ 184619633 w 190"/>
              <a:gd name="T3" fmla="*/ 90563894 h 190"/>
              <a:gd name="T4" fmla="*/ 182676382 w 190"/>
              <a:gd name="T5" fmla="*/ 109833722 h 190"/>
              <a:gd name="T6" fmla="*/ 176846631 w 190"/>
              <a:gd name="T7" fmla="*/ 127175786 h 190"/>
              <a:gd name="T8" fmla="*/ 169072644 w 190"/>
              <a:gd name="T9" fmla="*/ 142591063 h 190"/>
              <a:gd name="T10" fmla="*/ 157412155 w 190"/>
              <a:gd name="T11" fmla="*/ 156078574 h 190"/>
              <a:gd name="T12" fmla="*/ 143809403 w 190"/>
              <a:gd name="T13" fmla="*/ 167640276 h 190"/>
              <a:gd name="T14" fmla="*/ 128262413 w 190"/>
              <a:gd name="T15" fmla="*/ 175348403 h 190"/>
              <a:gd name="T16" fmla="*/ 110772174 w 190"/>
              <a:gd name="T17" fmla="*/ 181128765 h 190"/>
              <a:gd name="T18" fmla="*/ 91337698 w 190"/>
              <a:gd name="T19" fmla="*/ 183055552 h 190"/>
              <a:gd name="T20" fmla="*/ 91337698 w 190"/>
              <a:gd name="T21" fmla="*/ 183055552 h 190"/>
              <a:gd name="T22" fmla="*/ 73847459 w 190"/>
              <a:gd name="T23" fmla="*/ 181128765 h 190"/>
              <a:gd name="T24" fmla="*/ 56357219 w 190"/>
              <a:gd name="T25" fmla="*/ 175348403 h 190"/>
              <a:gd name="T26" fmla="*/ 40810230 w 190"/>
              <a:gd name="T27" fmla="*/ 167640276 h 190"/>
              <a:gd name="T28" fmla="*/ 27207477 w 190"/>
              <a:gd name="T29" fmla="*/ 156078574 h 190"/>
              <a:gd name="T30" fmla="*/ 15546989 w 190"/>
              <a:gd name="T31" fmla="*/ 142591063 h 190"/>
              <a:gd name="T32" fmla="*/ 7773002 w 190"/>
              <a:gd name="T33" fmla="*/ 127175786 h 190"/>
              <a:gd name="T34" fmla="*/ 1943250 w 190"/>
              <a:gd name="T35" fmla="*/ 109833722 h 190"/>
              <a:gd name="T36" fmla="*/ 0 w 190"/>
              <a:gd name="T37" fmla="*/ 90563894 h 190"/>
              <a:gd name="T38" fmla="*/ 0 w 190"/>
              <a:gd name="T39" fmla="*/ 90563894 h 190"/>
              <a:gd name="T40" fmla="*/ 1943250 w 190"/>
              <a:gd name="T41" fmla="*/ 73221830 h 190"/>
              <a:gd name="T42" fmla="*/ 7773002 w 190"/>
              <a:gd name="T43" fmla="*/ 55879766 h 190"/>
              <a:gd name="T44" fmla="*/ 15546989 w 190"/>
              <a:gd name="T45" fmla="*/ 40464490 h 190"/>
              <a:gd name="T46" fmla="*/ 27207477 w 190"/>
              <a:gd name="T47" fmla="*/ 26976978 h 190"/>
              <a:gd name="T48" fmla="*/ 40810230 w 190"/>
              <a:gd name="T49" fmla="*/ 15415276 h 190"/>
              <a:gd name="T50" fmla="*/ 56357219 w 190"/>
              <a:gd name="T51" fmla="*/ 7707149 h 190"/>
              <a:gd name="T52" fmla="*/ 73847459 w 190"/>
              <a:gd name="T53" fmla="*/ 1926787 h 190"/>
              <a:gd name="T54" fmla="*/ 91337698 w 190"/>
              <a:gd name="T55" fmla="*/ 0 h 190"/>
              <a:gd name="T56" fmla="*/ 91337698 w 190"/>
              <a:gd name="T57" fmla="*/ 0 h 190"/>
              <a:gd name="T58" fmla="*/ 110772174 w 190"/>
              <a:gd name="T59" fmla="*/ 1926787 h 190"/>
              <a:gd name="T60" fmla="*/ 128262413 w 190"/>
              <a:gd name="T61" fmla="*/ 7707149 h 190"/>
              <a:gd name="T62" fmla="*/ 143809403 w 190"/>
              <a:gd name="T63" fmla="*/ 15415276 h 190"/>
              <a:gd name="T64" fmla="*/ 157412155 w 190"/>
              <a:gd name="T65" fmla="*/ 26976978 h 190"/>
              <a:gd name="T66" fmla="*/ 169072644 w 190"/>
              <a:gd name="T67" fmla="*/ 40464490 h 190"/>
              <a:gd name="T68" fmla="*/ 176846631 w 190"/>
              <a:gd name="T69" fmla="*/ 55879766 h 190"/>
              <a:gd name="T70" fmla="*/ 182676382 w 190"/>
              <a:gd name="T71" fmla="*/ 73221830 h 190"/>
              <a:gd name="T72" fmla="*/ 184619633 w 190"/>
              <a:gd name="T73" fmla="*/ 90563894 h 190"/>
              <a:gd name="T74" fmla="*/ 184619633 w 190"/>
              <a:gd name="T75" fmla="*/ 90563894 h 1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90" h="190">
                <a:moveTo>
                  <a:pt x="190" y="94"/>
                </a:moveTo>
                <a:lnTo>
                  <a:pt x="190" y="94"/>
                </a:lnTo>
                <a:lnTo>
                  <a:pt x="188" y="114"/>
                </a:lnTo>
                <a:lnTo>
                  <a:pt x="182" y="132"/>
                </a:lnTo>
                <a:lnTo>
                  <a:pt x="174" y="148"/>
                </a:lnTo>
                <a:lnTo>
                  <a:pt x="162" y="162"/>
                </a:lnTo>
                <a:lnTo>
                  <a:pt x="148" y="174"/>
                </a:lnTo>
                <a:lnTo>
                  <a:pt x="132" y="182"/>
                </a:lnTo>
                <a:lnTo>
                  <a:pt x="114" y="188"/>
                </a:lnTo>
                <a:lnTo>
                  <a:pt x="94" y="190"/>
                </a:lnTo>
                <a:lnTo>
                  <a:pt x="76" y="188"/>
                </a:lnTo>
                <a:lnTo>
                  <a:pt x="58" y="182"/>
                </a:lnTo>
                <a:lnTo>
                  <a:pt x="42" y="174"/>
                </a:lnTo>
                <a:lnTo>
                  <a:pt x="28" y="162"/>
                </a:lnTo>
                <a:lnTo>
                  <a:pt x="16" y="148"/>
                </a:lnTo>
                <a:lnTo>
                  <a:pt x="8" y="132"/>
                </a:lnTo>
                <a:lnTo>
                  <a:pt x="2" y="114"/>
                </a:lnTo>
                <a:lnTo>
                  <a:pt x="0" y="94"/>
                </a:lnTo>
                <a:lnTo>
                  <a:pt x="2" y="76"/>
                </a:lnTo>
                <a:lnTo>
                  <a:pt x="8" y="58"/>
                </a:lnTo>
                <a:lnTo>
                  <a:pt x="16" y="42"/>
                </a:lnTo>
                <a:lnTo>
                  <a:pt x="28" y="28"/>
                </a:lnTo>
                <a:lnTo>
                  <a:pt x="42" y="16"/>
                </a:lnTo>
                <a:lnTo>
                  <a:pt x="58" y="8"/>
                </a:lnTo>
                <a:lnTo>
                  <a:pt x="76" y="2"/>
                </a:lnTo>
                <a:lnTo>
                  <a:pt x="94" y="0"/>
                </a:lnTo>
                <a:lnTo>
                  <a:pt x="114" y="2"/>
                </a:lnTo>
                <a:lnTo>
                  <a:pt x="132" y="8"/>
                </a:lnTo>
                <a:lnTo>
                  <a:pt x="148" y="16"/>
                </a:lnTo>
                <a:lnTo>
                  <a:pt x="162" y="28"/>
                </a:lnTo>
                <a:lnTo>
                  <a:pt x="174" y="42"/>
                </a:lnTo>
                <a:lnTo>
                  <a:pt x="182" y="58"/>
                </a:lnTo>
                <a:lnTo>
                  <a:pt x="188" y="76"/>
                </a:lnTo>
                <a:lnTo>
                  <a:pt x="190" y="94"/>
                </a:lnTo>
                <a:close/>
              </a:path>
            </a:pathLst>
          </a:custGeom>
          <a:noFill/>
          <a:ln>
            <a:solidFill>
              <a:srgbClr val="15F2FA"/>
            </a:solidFill>
          </a:ln>
        </p:spPr>
        <p:txBody>
          <a:bodyPr lIns="162552" tIns="81276" rIns="162552" bIns="81276"/>
          <a:lstStyle/>
          <a:p>
            <a:pPr defTabSz="1624965"/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28" name="矩形 1"/>
          <p:cNvSpPr>
            <a:spLocks noChangeArrowheads="1"/>
          </p:cNvSpPr>
          <p:nvPr/>
        </p:nvSpPr>
        <p:spPr bwMode="auto">
          <a:xfrm>
            <a:off x="8842699" y="1747878"/>
            <a:ext cx="3060461" cy="2009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2552" tIns="81276" rIns="162552" bIns="81276">
            <a:spAutoFit/>
          </a:bodyPr>
          <a:lstStyle/>
          <a:p>
            <a:pPr algn="just" defTabSz="162496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135" b="1" dirty="0">
                <a:solidFill>
                  <a:srgbClr val="15F2FA"/>
                </a:solidFill>
                <a:cs typeface="+mn-ea"/>
                <a:sym typeface="+mn-lt"/>
              </a:rPr>
              <a:t>Map/Reduce</a:t>
            </a:r>
          </a:p>
          <a:p>
            <a:pPr algn="just" defTabSz="162496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15F2FA"/>
                </a:solidFill>
                <a:cs typeface="+mn-ea"/>
                <a:sym typeface="+mn-lt"/>
              </a:rPr>
              <a:t>MapReduce</a:t>
            </a:r>
            <a:r>
              <a:rPr lang="zh-CN" altLang="en-US" sz="1200" dirty="0">
                <a:solidFill>
                  <a:srgbClr val="15F2FA"/>
                </a:solidFill>
                <a:cs typeface="+mn-ea"/>
                <a:sym typeface="+mn-lt"/>
              </a:rPr>
              <a:t>分</a:t>
            </a:r>
            <a:r>
              <a:rPr lang="en-US" altLang="zh-CN" sz="1200" dirty="0">
                <a:solidFill>
                  <a:srgbClr val="15F2FA"/>
                </a:solidFill>
                <a:cs typeface="+mn-ea"/>
                <a:sym typeface="+mn-lt"/>
              </a:rPr>
              <a:t>Map</a:t>
            </a:r>
            <a:r>
              <a:rPr lang="zh-CN" altLang="en-US" sz="1200" dirty="0">
                <a:solidFill>
                  <a:srgbClr val="15F2FA"/>
                </a:solidFill>
                <a:cs typeface="+mn-ea"/>
                <a:sym typeface="+mn-lt"/>
              </a:rPr>
              <a:t>（数据拆分）和</a:t>
            </a:r>
            <a:r>
              <a:rPr lang="en-US" altLang="zh-CN" sz="1200" dirty="0">
                <a:solidFill>
                  <a:srgbClr val="15F2FA"/>
                </a:solidFill>
                <a:cs typeface="+mn-ea"/>
                <a:sym typeface="+mn-lt"/>
              </a:rPr>
              <a:t>Reduce</a:t>
            </a:r>
            <a:r>
              <a:rPr lang="zh-CN" altLang="en-US" sz="1200" dirty="0">
                <a:solidFill>
                  <a:srgbClr val="15F2FA"/>
                </a:solidFill>
                <a:cs typeface="+mn-ea"/>
                <a:sym typeface="+mn-lt"/>
              </a:rPr>
              <a:t>（结果汇总）阶段，通过</a:t>
            </a:r>
            <a:r>
              <a:rPr lang="en-US" altLang="zh-CN" sz="1200" dirty="0" err="1">
                <a:solidFill>
                  <a:srgbClr val="15F2FA"/>
                </a:solidFill>
                <a:cs typeface="+mn-ea"/>
                <a:sym typeface="+mn-lt"/>
              </a:rPr>
              <a:t>JobTracker</a:t>
            </a:r>
            <a:r>
              <a:rPr lang="zh-CN" altLang="en-US" sz="1200" dirty="0">
                <a:solidFill>
                  <a:srgbClr val="15F2FA"/>
                </a:solidFill>
                <a:cs typeface="+mn-ea"/>
                <a:sym typeface="+mn-lt"/>
              </a:rPr>
              <a:t>调度任务，</a:t>
            </a:r>
            <a:r>
              <a:rPr lang="en-US" altLang="zh-CN" sz="1200" dirty="0" err="1">
                <a:solidFill>
                  <a:srgbClr val="15F2FA"/>
                </a:solidFill>
                <a:cs typeface="+mn-ea"/>
                <a:sym typeface="+mn-lt"/>
              </a:rPr>
              <a:t>TaskTracker</a:t>
            </a:r>
            <a:r>
              <a:rPr lang="zh-CN" altLang="en-US" sz="1200" dirty="0">
                <a:solidFill>
                  <a:srgbClr val="15F2FA"/>
                </a:solidFill>
                <a:cs typeface="+mn-ea"/>
                <a:sym typeface="+mn-lt"/>
              </a:rPr>
              <a:t>执行计算，适合离线批处理，但编程灵活性较低</a:t>
            </a:r>
            <a:endParaRPr lang="zh-CN" altLang="zh-CN" sz="1050" b="1" dirty="0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129" name="任意多边形 128"/>
          <p:cNvSpPr/>
          <p:nvPr/>
        </p:nvSpPr>
        <p:spPr>
          <a:xfrm flipH="1">
            <a:off x="719403" y="2472785"/>
            <a:ext cx="4213487" cy="1099535"/>
          </a:xfrm>
          <a:custGeom>
            <a:avLst/>
            <a:gdLst>
              <a:gd name="connsiteX0" fmla="*/ 0 w 1495425"/>
              <a:gd name="connsiteY0" fmla="*/ 581025 h 581025"/>
              <a:gd name="connsiteX1" fmla="*/ 333375 w 1495425"/>
              <a:gd name="connsiteY1" fmla="*/ 0 h 581025"/>
              <a:gd name="connsiteX2" fmla="*/ 1238250 w 1495425"/>
              <a:gd name="connsiteY2" fmla="*/ 0 h 581025"/>
              <a:gd name="connsiteX3" fmla="*/ 1495425 w 1495425"/>
              <a:gd name="connsiteY3" fmla="*/ 0 h 581025"/>
              <a:gd name="connsiteX0-1" fmla="*/ 0 w 1238249"/>
              <a:gd name="connsiteY0-2" fmla="*/ 581025 h 581025"/>
              <a:gd name="connsiteX1-3" fmla="*/ 333375 w 1238249"/>
              <a:gd name="connsiteY1-4" fmla="*/ 0 h 581025"/>
              <a:gd name="connsiteX2-5" fmla="*/ 1238250 w 1238249"/>
              <a:gd name="connsiteY2-6" fmla="*/ 0 h 581025"/>
              <a:gd name="connsiteX0-7" fmla="*/ 0 w 2896333"/>
              <a:gd name="connsiteY0-8" fmla="*/ 581025 h 581025"/>
              <a:gd name="connsiteX1-9" fmla="*/ 333375 w 2896333"/>
              <a:gd name="connsiteY1-10" fmla="*/ 0 h 581025"/>
              <a:gd name="connsiteX2-11" fmla="*/ 2896333 w 2896333"/>
              <a:gd name="connsiteY2-12" fmla="*/ 0 h 5810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896333" h="581025">
                <a:moveTo>
                  <a:pt x="0" y="581025"/>
                </a:moveTo>
                <a:lnTo>
                  <a:pt x="333375" y="0"/>
                </a:lnTo>
                <a:lnTo>
                  <a:pt x="2896333" y="0"/>
                </a:lnTo>
              </a:path>
            </a:pathLst>
          </a:custGeom>
          <a:noFill/>
          <a:ln w="12700" cap="flat" cmpd="sng" algn="ctr">
            <a:solidFill>
              <a:srgbClr val="15F2FA"/>
            </a:solidFill>
            <a:prstDash val="dash"/>
            <a:headEnd type="oval" w="med" len="med"/>
          </a:ln>
          <a:effectLst/>
        </p:spPr>
        <p:txBody>
          <a:bodyPr lIns="162552" tIns="81276" rIns="162552" bIns="81276" anchor="ctr"/>
          <a:lstStyle/>
          <a:p>
            <a:pPr algn="ctr" defTabSz="1624965">
              <a:defRPr/>
            </a:pPr>
            <a:endParaRPr lang="zh-CN" altLang="en-US" sz="3200" kern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130" name="矩形 1"/>
          <p:cNvSpPr>
            <a:spLocks noChangeArrowheads="1"/>
          </p:cNvSpPr>
          <p:nvPr/>
        </p:nvSpPr>
        <p:spPr bwMode="auto">
          <a:xfrm>
            <a:off x="1249319" y="1892830"/>
            <a:ext cx="3417827" cy="1732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2552" tIns="81276" rIns="162552" bIns="81276">
            <a:spAutoFit/>
          </a:bodyPr>
          <a:lstStyle/>
          <a:p>
            <a:pPr algn="just" defTabSz="162496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135" b="1" dirty="0">
                <a:solidFill>
                  <a:srgbClr val="15F2FA"/>
                </a:solidFill>
                <a:cs typeface="+mn-ea"/>
                <a:sym typeface="+mn-lt"/>
              </a:rPr>
              <a:t>HDFS</a:t>
            </a:r>
          </a:p>
          <a:p>
            <a:pPr algn="just" defTabSz="162496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15F2FA"/>
                </a:solidFill>
                <a:cs typeface="+mn-ea"/>
                <a:sym typeface="+mn-lt"/>
              </a:rPr>
              <a:t>HDFS</a:t>
            </a:r>
            <a:r>
              <a:rPr lang="zh-CN" altLang="en-US" sz="1200" dirty="0">
                <a:solidFill>
                  <a:srgbClr val="15F2FA"/>
                </a:solidFill>
                <a:cs typeface="+mn-ea"/>
                <a:sym typeface="+mn-lt"/>
              </a:rPr>
              <a:t>采用主从架构，</a:t>
            </a:r>
            <a:r>
              <a:rPr lang="en-US" altLang="zh-CN" sz="1200" dirty="0" err="1">
                <a:solidFill>
                  <a:srgbClr val="15F2FA"/>
                </a:solidFill>
                <a:cs typeface="+mn-ea"/>
                <a:sym typeface="+mn-lt"/>
              </a:rPr>
              <a:t>NameNode</a:t>
            </a:r>
            <a:r>
              <a:rPr lang="zh-CN" altLang="en-US" sz="1200" dirty="0">
                <a:solidFill>
                  <a:srgbClr val="15F2FA"/>
                </a:solidFill>
                <a:cs typeface="+mn-ea"/>
                <a:sym typeface="+mn-lt"/>
              </a:rPr>
              <a:t>管理元数据，</a:t>
            </a:r>
            <a:r>
              <a:rPr lang="en-US" altLang="zh-CN" sz="1200" dirty="0" err="1">
                <a:solidFill>
                  <a:srgbClr val="15F2FA"/>
                </a:solidFill>
                <a:cs typeface="+mn-ea"/>
                <a:sym typeface="+mn-lt"/>
              </a:rPr>
              <a:t>DataNode</a:t>
            </a:r>
            <a:r>
              <a:rPr lang="zh-CN" altLang="en-US" sz="1200" dirty="0">
                <a:solidFill>
                  <a:srgbClr val="15F2FA"/>
                </a:solidFill>
                <a:cs typeface="+mn-ea"/>
                <a:sym typeface="+mn-lt"/>
              </a:rPr>
              <a:t>存储数据块，支持高容错。文件分块存储，适合批量分析，但修改受限，主要用于大数据底层存储</a:t>
            </a:r>
            <a:endParaRPr lang="zh-CN" altLang="zh-CN" sz="1050" b="1" dirty="0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131" name="任意多边形 130"/>
          <p:cNvSpPr/>
          <p:nvPr/>
        </p:nvSpPr>
        <p:spPr>
          <a:xfrm flipH="1">
            <a:off x="719404" y="4568359"/>
            <a:ext cx="3746681" cy="1108036"/>
          </a:xfrm>
          <a:custGeom>
            <a:avLst/>
            <a:gdLst>
              <a:gd name="connsiteX0" fmla="*/ 0 w 1495425"/>
              <a:gd name="connsiteY0" fmla="*/ 581025 h 581025"/>
              <a:gd name="connsiteX1" fmla="*/ 333375 w 1495425"/>
              <a:gd name="connsiteY1" fmla="*/ 0 h 581025"/>
              <a:gd name="connsiteX2" fmla="*/ 1238250 w 1495425"/>
              <a:gd name="connsiteY2" fmla="*/ 0 h 581025"/>
              <a:gd name="connsiteX3" fmla="*/ 1495425 w 1495425"/>
              <a:gd name="connsiteY3" fmla="*/ 0 h 581025"/>
              <a:gd name="connsiteX0-1" fmla="*/ 0 w 1238249"/>
              <a:gd name="connsiteY0-2" fmla="*/ 581025 h 581025"/>
              <a:gd name="connsiteX1-3" fmla="*/ 333375 w 1238249"/>
              <a:gd name="connsiteY1-4" fmla="*/ 0 h 581025"/>
              <a:gd name="connsiteX2-5" fmla="*/ 1238250 w 1238249"/>
              <a:gd name="connsiteY2-6" fmla="*/ 0 h 581025"/>
              <a:gd name="connsiteX0-7" fmla="*/ 0 w 2528430"/>
              <a:gd name="connsiteY0-8" fmla="*/ 587027 h 587027"/>
              <a:gd name="connsiteX1-9" fmla="*/ 333375 w 2528430"/>
              <a:gd name="connsiteY1-10" fmla="*/ 6002 h 587027"/>
              <a:gd name="connsiteX2-11" fmla="*/ 2528430 w 2528430"/>
              <a:gd name="connsiteY2-12" fmla="*/ 0 h 5870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28430" h="587027">
                <a:moveTo>
                  <a:pt x="0" y="587027"/>
                </a:moveTo>
                <a:lnTo>
                  <a:pt x="333375" y="6002"/>
                </a:lnTo>
                <a:lnTo>
                  <a:pt x="2528430" y="0"/>
                </a:lnTo>
              </a:path>
            </a:pathLst>
          </a:custGeom>
          <a:noFill/>
          <a:ln w="12700" cap="flat" cmpd="sng" algn="ctr">
            <a:solidFill>
              <a:srgbClr val="15F2FA"/>
            </a:solidFill>
            <a:prstDash val="dash"/>
            <a:headEnd type="oval" w="med" len="med"/>
          </a:ln>
          <a:effectLst/>
        </p:spPr>
        <p:txBody>
          <a:bodyPr lIns="162552" tIns="81276" rIns="162552" bIns="81276" anchor="ctr"/>
          <a:lstStyle/>
          <a:p>
            <a:pPr algn="ctr" defTabSz="1624965">
              <a:defRPr/>
            </a:pPr>
            <a:endParaRPr lang="zh-CN" altLang="en-US" sz="3200" kern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132" name="矩形 1"/>
          <p:cNvSpPr>
            <a:spLocks noChangeArrowheads="1"/>
          </p:cNvSpPr>
          <p:nvPr/>
        </p:nvSpPr>
        <p:spPr bwMode="auto">
          <a:xfrm>
            <a:off x="1269854" y="3925068"/>
            <a:ext cx="3403980" cy="126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2552" tIns="81276" rIns="162552" bIns="81276">
            <a:spAutoFit/>
          </a:bodyPr>
          <a:lstStyle/>
          <a:p>
            <a:pPr algn="just" defTabSz="162496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135" b="1" dirty="0">
                <a:solidFill>
                  <a:srgbClr val="15F2FA"/>
                </a:solidFill>
                <a:cs typeface="+mn-ea"/>
                <a:sym typeface="+mn-lt"/>
              </a:rPr>
              <a:t>HBase</a:t>
            </a:r>
          </a:p>
          <a:p>
            <a:pPr algn="just" defTabSz="162496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列式分布式数据库，支持快速随机访问，基于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HDFS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存储</a:t>
            </a:r>
            <a:endParaRPr lang="zh-CN" altLang="zh-CN" sz="1400" dirty="0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133" name="矩形 1"/>
          <p:cNvSpPr>
            <a:spLocks noChangeArrowheads="1"/>
          </p:cNvSpPr>
          <p:nvPr/>
        </p:nvSpPr>
        <p:spPr bwMode="auto">
          <a:xfrm>
            <a:off x="8834045" y="4197085"/>
            <a:ext cx="2534015" cy="1388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2552" tIns="81276" rIns="162552" bIns="81276">
            <a:spAutoFit/>
          </a:bodyPr>
          <a:lstStyle/>
          <a:p>
            <a:pPr algn="just" defTabSz="1624965">
              <a:lnSpc>
                <a:spcPct val="150000"/>
              </a:lnSpc>
            </a:pPr>
            <a:r>
              <a:rPr lang="en-US" altLang="zh-CN" sz="2135" b="1" kern="0" dirty="0">
                <a:solidFill>
                  <a:srgbClr val="15F2FA"/>
                </a:solidFill>
                <a:cs typeface="+mn-ea"/>
                <a:sym typeface="+mn-lt"/>
              </a:rPr>
              <a:t>Hive</a:t>
            </a:r>
          </a:p>
          <a:p>
            <a:pPr algn="just" defTabSz="1624965">
              <a:lnSpc>
                <a:spcPct val="150000"/>
              </a:lnSpc>
            </a:pPr>
            <a:r>
              <a:rPr lang="en-US" altLang="zh-CN" sz="1100" kern="0" dirty="0">
                <a:solidFill>
                  <a:srgbClr val="15F2FA"/>
                </a:solidFill>
                <a:cs typeface="+mn-ea"/>
                <a:sym typeface="+mn-lt"/>
              </a:rPr>
              <a:t>SQL</a:t>
            </a:r>
            <a:r>
              <a:rPr lang="zh-CN" altLang="en-US" sz="1100" kern="0" dirty="0">
                <a:solidFill>
                  <a:srgbClr val="15F2FA"/>
                </a:solidFill>
                <a:cs typeface="+mn-ea"/>
                <a:sym typeface="+mn-lt"/>
              </a:rPr>
              <a:t>引擎，将查询转为</a:t>
            </a:r>
            <a:r>
              <a:rPr lang="en-US" altLang="zh-CN" sz="1100" kern="0" dirty="0">
                <a:solidFill>
                  <a:srgbClr val="15F2FA"/>
                </a:solidFill>
                <a:cs typeface="+mn-ea"/>
                <a:sym typeface="+mn-lt"/>
              </a:rPr>
              <a:t>MapReduce</a:t>
            </a:r>
            <a:r>
              <a:rPr lang="zh-CN" altLang="en-US" sz="1100" kern="0" dirty="0">
                <a:solidFill>
                  <a:srgbClr val="15F2FA"/>
                </a:solidFill>
                <a:cs typeface="+mn-ea"/>
                <a:sym typeface="+mn-lt"/>
              </a:rPr>
              <a:t>任务，降低大数据分析门槛，适合非技术用户</a:t>
            </a:r>
            <a:endParaRPr lang="zh-CN" altLang="zh-CN" sz="1200" kern="0" dirty="0">
              <a:solidFill>
                <a:srgbClr val="15F2FA"/>
              </a:solidFill>
              <a:cs typeface="+mn-ea"/>
              <a:sym typeface="+mn-lt"/>
            </a:endParaRPr>
          </a:p>
        </p:txBody>
      </p:sp>
      <p:sp>
        <p:nvSpPr>
          <p:cNvPr id="134" name="Freeform 11"/>
          <p:cNvSpPr/>
          <p:nvPr/>
        </p:nvSpPr>
        <p:spPr bwMode="auto">
          <a:xfrm>
            <a:off x="8355124" y="1857461"/>
            <a:ext cx="478921" cy="419411"/>
          </a:xfrm>
          <a:custGeom>
            <a:avLst/>
            <a:gdLst>
              <a:gd name="T0" fmla="*/ 150135761 w 478"/>
              <a:gd name="T1" fmla="*/ 22539537 h 420"/>
              <a:gd name="T2" fmla="*/ 148879634 w 478"/>
              <a:gd name="T3" fmla="*/ 13774223 h 420"/>
              <a:gd name="T4" fmla="*/ 143854005 w 478"/>
              <a:gd name="T5" fmla="*/ 6260858 h 420"/>
              <a:gd name="T6" fmla="*/ 136315561 w 478"/>
              <a:gd name="T7" fmla="*/ 1251948 h 420"/>
              <a:gd name="T8" fmla="*/ 127520991 w 478"/>
              <a:gd name="T9" fmla="*/ 0 h 420"/>
              <a:gd name="T10" fmla="*/ 123123986 w 478"/>
              <a:gd name="T11" fmla="*/ 0 h 420"/>
              <a:gd name="T12" fmla="*/ 114957479 w 478"/>
              <a:gd name="T13" fmla="*/ 3756403 h 420"/>
              <a:gd name="T14" fmla="*/ 109303787 w 478"/>
              <a:gd name="T15" fmla="*/ 9391287 h 420"/>
              <a:gd name="T16" fmla="*/ 105534845 w 478"/>
              <a:gd name="T17" fmla="*/ 17530626 h 420"/>
              <a:gd name="T18" fmla="*/ 105534845 w 478"/>
              <a:gd name="T19" fmla="*/ 22539537 h 420"/>
              <a:gd name="T20" fmla="*/ 107419035 w 478"/>
              <a:gd name="T21" fmla="*/ 31304850 h 420"/>
              <a:gd name="T22" fmla="*/ 112444665 w 478"/>
              <a:gd name="T23" fmla="*/ 38818215 h 420"/>
              <a:gd name="T24" fmla="*/ 65330934 w 478"/>
              <a:gd name="T25" fmla="*/ 52591879 h 420"/>
              <a:gd name="T26" fmla="*/ 30152653 w 478"/>
              <a:gd name="T27" fmla="*/ 70749039 h 420"/>
              <a:gd name="T28" fmla="*/ 26383711 w 478"/>
              <a:gd name="T29" fmla="*/ 69496532 h 420"/>
              <a:gd name="T30" fmla="*/ 22614770 w 478"/>
              <a:gd name="T31" fmla="*/ 69496532 h 420"/>
              <a:gd name="T32" fmla="*/ 13820200 w 478"/>
              <a:gd name="T33" fmla="*/ 70749039 h 420"/>
              <a:gd name="T34" fmla="*/ 6909819 w 478"/>
              <a:gd name="T35" fmla="*/ 75757949 h 420"/>
              <a:gd name="T36" fmla="*/ 1884751 w 478"/>
              <a:gd name="T37" fmla="*/ 82644781 h 420"/>
              <a:gd name="T38" fmla="*/ 0 w 478"/>
              <a:gd name="T39" fmla="*/ 91410095 h 420"/>
              <a:gd name="T40" fmla="*/ 628063 w 478"/>
              <a:gd name="T41" fmla="*/ 96419005 h 420"/>
              <a:gd name="T42" fmla="*/ 4397005 w 478"/>
              <a:gd name="T43" fmla="*/ 104558344 h 420"/>
              <a:gd name="T44" fmla="*/ 10050697 w 478"/>
              <a:gd name="T45" fmla="*/ 110193228 h 420"/>
              <a:gd name="T46" fmla="*/ 18217204 w 478"/>
              <a:gd name="T47" fmla="*/ 113949631 h 420"/>
              <a:gd name="T48" fmla="*/ 22614770 w 478"/>
              <a:gd name="T49" fmla="*/ 113949631 h 420"/>
              <a:gd name="T50" fmla="*/ 31409341 w 478"/>
              <a:gd name="T51" fmla="*/ 112697124 h 420"/>
              <a:gd name="T52" fmla="*/ 38947223 w 478"/>
              <a:gd name="T53" fmla="*/ 107688773 h 420"/>
              <a:gd name="T54" fmla="*/ 43344789 w 478"/>
              <a:gd name="T55" fmla="*/ 100175408 h 420"/>
              <a:gd name="T56" fmla="*/ 45228979 w 478"/>
              <a:gd name="T57" fmla="*/ 91410095 h 420"/>
              <a:gd name="T58" fmla="*/ 45228979 w 478"/>
              <a:gd name="T59" fmla="*/ 87027158 h 420"/>
              <a:gd name="T60" fmla="*/ 76638319 w 478"/>
              <a:gd name="T61" fmla="*/ 131480258 h 420"/>
              <a:gd name="T62" fmla="*/ 133802747 w 478"/>
              <a:gd name="T63" fmla="*/ 43826566 h 420"/>
              <a:gd name="T64" fmla="*/ 136944186 w 478"/>
              <a:gd name="T65" fmla="*/ 42574618 h 420"/>
              <a:gd name="T66" fmla="*/ 143225942 w 478"/>
              <a:gd name="T67" fmla="*/ 38818215 h 420"/>
              <a:gd name="T68" fmla="*/ 147622946 w 478"/>
              <a:gd name="T69" fmla="*/ 33183331 h 420"/>
              <a:gd name="T70" fmla="*/ 150135761 w 478"/>
              <a:gd name="T71" fmla="*/ 26295940 h 420"/>
              <a:gd name="T72" fmla="*/ 150135761 w 478"/>
              <a:gd name="T73" fmla="*/ 22539537 h 42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478" h="420">
                <a:moveTo>
                  <a:pt x="478" y="72"/>
                </a:moveTo>
                <a:lnTo>
                  <a:pt x="478" y="72"/>
                </a:lnTo>
                <a:lnTo>
                  <a:pt x="478" y="56"/>
                </a:lnTo>
                <a:lnTo>
                  <a:pt x="474" y="44"/>
                </a:lnTo>
                <a:lnTo>
                  <a:pt x="466" y="30"/>
                </a:lnTo>
                <a:lnTo>
                  <a:pt x="458" y="20"/>
                </a:lnTo>
                <a:lnTo>
                  <a:pt x="448" y="12"/>
                </a:lnTo>
                <a:lnTo>
                  <a:pt x="434" y="4"/>
                </a:lnTo>
                <a:lnTo>
                  <a:pt x="422" y="0"/>
                </a:lnTo>
                <a:lnTo>
                  <a:pt x="406" y="0"/>
                </a:lnTo>
                <a:lnTo>
                  <a:pt x="392" y="0"/>
                </a:lnTo>
                <a:lnTo>
                  <a:pt x="378" y="4"/>
                </a:lnTo>
                <a:lnTo>
                  <a:pt x="366" y="12"/>
                </a:lnTo>
                <a:lnTo>
                  <a:pt x="356" y="20"/>
                </a:lnTo>
                <a:lnTo>
                  <a:pt x="348" y="30"/>
                </a:lnTo>
                <a:lnTo>
                  <a:pt x="340" y="44"/>
                </a:lnTo>
                <a:lnTo>
                  <a:pt x="336" y="56"/>
                </a:lnTo>
                <a:lnTo>
                  <a:pt x="336" y="72"/>
                </a:lnTo>
                <a:lnTo>
                  <a:pt x="336" y="86"/>
                </a:lnTo>
                <a:lnTo>
                  <a:pt x="342" y="100"/>
                </a:lnTo>
                <a:lnTo>
                  <a:pt x="348" y="112"/>
                </a:lnTo>
                <a:lnTo>
                  <a:pt x="358" y="124"/>
                </a:lnTo>
                <a:lnTo>
                  <a:pt x="276" y="318"/>
                </a:lnTo>
                <a:lnTo>
                  <a:pt x="208" y="168"/>
                </a:lnTo>
                <a:lnTo>
                  <a:pt x="148" y="160"/>
                </a:lnTo>
                <a:lnTo>
                  <a:pt x="96" y="226"/>
                </a:lnTo>
                <a:lnTo>
                  <a:pt x="84" y="222"/>
                </a:lnTo>
                <a:lnTo>
                  <a:pt x="72" y="222"/>
                </a:lnTo>
                <a:lnTo>
                  <a:pt x="58" y="222"/>
                </a:lnTo>
                <a:lnTo>
                  <a:pt x="44" y="226"/>
                </a:lnTo>
                <a:lnTo>
                  <a:pt x="32" y="234"/>
                </a:lnTo>
                <a:lnTo>
                  <a:pt x="22" y="242"/>
                </a:lnTo>
                <a:lnTo>
                  <a:pt x="14" y="252"/>
                </a:lnTo>
                <a:lnTo>
                  <a:pt x="6" y="264"/>
                </a:lnTo>
                <a:lnTo>
                  <a:pt x="2" y="278"/>
                </a:lnTo>
                <a:lnTo>
                  <a:pt x="0" y="292"/>
                </a:lnTo>
                <a:lnTo>
                  <a:pt x="2" y="308"/>
                </a:lnTo>
                <a:lnTo>
                  <a:pt x="6" y="320"/>
                </a:lnTo>
                <a:lnTo>
                  <a:pt x="14" y="334"/>
                </a:lnTo>
                <a:lnTo>
                  <a:pt x="22" y="344"/>
                </a:lnTo>
                <a:lnTo>
                  <a:pt x="32" y="352"/>
                </a:lnTo>
                <a:lnTo>
                  <a:pt x="44" y="360"/>
                </a:lnTo>
                <a:lnTo>
                  <a:pt x="58" y="364"/>
                </a:lnTo>
                <a:lnTo>
                  <a:pt x="72" y="364"/>
                </a:lnTo>
                <a:lnTo>
                  <a:pt x="88" y="364"/>
                </a:lnTo>
                <a:lnTo>
                  <a:pt x="100" y="360"/>
                </a:lnTo>
                <a:lnTo>
                  <a:pt x="112" y="352"/>
                </a:lnTo>
                <a:lnTo>
                  <a:pt x="124" y="344"/>
                </a:lnTo>
                <a:lnTo>
                  <a:pt x="132" y="334"/>
                </a:lnTo>
                <a:lnTo>
                  <a:pt x="138" y="320"/>
                </a:lnTo>
                <a:lnTo>
                  <a:pt x="144" y="308"/>
                </a:lnTo>
                <a:lnTo>
                  <a:pt x="144" y="292"/>
                </a:lnTo>
                <a:lnTo>
                  <a:pt x="144" y="278"/>
                </a:lnTo>
                <a:lnTo>
                  <a:pt x="168" y="248"/>
                </a:lnTo>
                <a:lnTo>
                  <a:pt x="244" y="420"/>
                </a:lnTo>
                <a:lnTo>
                  <a:pt x="308" y="418"/>
                </a:lnTo>
                <a:lnTo>
                  <a:pt x="426" y="140"/>
                </a:lnTo>
                <a:lnTo>
                  <a:pt x="436" y="136"/>
                </a:lnTo>
                <a:lnTo>
                  <a:pt x="448" y="130"/>
                </a:lnTo>
                <a:lnTo>
                  <a:pt x="456" y="124"/>
                </a:lnTo>
                <a:lnTo>
                  <a:pt x="464" y="114"/>
                </a:lnTo>
                <a:lnTo>
                  <a:pt x="470" y="106"/>
                </a:lnTo>
                <a:lnTo>
                  <a:pt x="474" y="94"/>
                </a:lnTo>
                <a:lnTo>
                  <a:pt x="478" y="84"/>
                </a:lnTo>
                <a:lnTo>
                  <a:pt x="478" y="72"/>
                </a:lnTo>
                <a:close/>
              </a:path>
            </a:pathLst>
          </a:custGeom>
          <a:solidFill>
            <a:srgbClr val="15F2FA"/>
          </a:solidFill>
          <a:ln>
            <a:noFill/>
          </a:ln>
        </p:spPr>
        <p:txBody>
          <a:bodyPr lIns="162552" tIns="81276" rIns="162552" bIns="81276"/>
          <a:lstStyle/>
          <a:p>
            <a:pPr defTabSz="1624965"/>
            <a:endParaRPr lang="zh-CN" altLang="en-US" sz="3200" ker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35" name="组合 122"/>
          <p:cNvGrpSpPr/>
          <p:nvPr/>
        </p:nvGrpSpPr>
        <p:grpSpPr bwMode="auto">
          <a:xfrm>
            <a:off x="882403" y="2049181"/>
            <a:ext cx="342895" cy="345729"/>
            <a:chOff x="3889445" y="2973091"/>
            <a:chExt cx="319708" cy="324921"/>
          </a:xfrm>
          <a:solidFill>
            <a:schemeClr val="bg1"/>
          </a:solidFill>
        </p:grpSpPr>
        <p:sp>
          <p:nvSpPr>
            <p:cNvPr id="136" name="Rectangle 12"/>
            <p:cNvSpPr>
              <a:spLocks noChangeArrowheads="1"/>
            </p:cNvSpPr>
            <p:nvPr/>
          </p:nvSpPr>
          <p:spPr bwMode="auto">
            <a:xfrm>
              <a:off x="3889445" y="3006104"/>
              <a:ext cx="128578" cy="1268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7" name="Rectangle 13"/>
            <p:cNvSpPr>
              <a:spLocks noChangeArrowheads="1"/>
            </p:cNvSpPr>
            <p:nvPr/>
          </p:nvSpPr>
          <p:spPr bwMode="auto">
            <a:xfrm>
              <a:off x="4049299" y="2973091"/>
              <a:ext cx="159854" cy="1598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8" name="Rectangle 14"/>
            <p:cNvSpPr>
              <a:spLocks noChangeArrowheads="1"/>
            </p:cNvSpPr>
            <p:nvPr/>
          </p:nvSpPr>
          <p:spPr bwMode="auto">
            <a:xfrm>
              <a:off x="3889445" y="3171171"/>
              <a:ext cx="128578" cy="1268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9" name="Rectangle 15"/>
            <p:cNvSpPr>
              <a:spLocks noChangeArrowheads="1"/>
            </p:cNvSpPr>
            <p:nvPr/>
          </p:nvSpPr>
          <p:spPr bwMode="auto">
            <a:xfrm>
              <a:off x="4049299" y="3171171"/>
              <a:ext cx="126841" cy="1268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0" name="组合 13321"/>
          <p:cNvGrpSpPr/>
          <p:nvPr/>
        </p:nvGrpSpPr>
        <p:grpSpPr bwMode="auto">
          <a:xfrm>
            <a:off x="8406132" y="4383187"/>
            <a:ext cx="376905" cy="374071"/>
            <a:chOff x="1057275" y="3008313"/>
            <a:chExt cx="368300" cy="368300"/>
          </a:xfrm>
          <a:solidFill>
            <a:schemeClr val="bg1"/>
          </a:solidFill>
        </p:grpSpPr>
        <p:sp>
          <p:nvSpPr>
            <p:cNvPr id="141" name="Freeform 11"/>
            <p:cNvSpPr/>
            <p:nvPr/>
          </p:nvSpPr>
          <p:spPr bwMode="auto">
            <a:xfrm>
              <a:off x="1057275" y="3033713"/>
              <a:ext cx="342900" cy="342900"/>
            </a:xfrm>
            <a:custGeom>
              <a:avLst/>
              <a:gdLst>
                <a:gd name="T0" fmla="*/ 252015625 w 216"/>
                <a:gd name="T1" fmla="*/ 0 h 216"/>
                <a:gd name="T2" fmla="*/ 252015625 w 216"/>
                <a:gd name="T3" fmla="*/ 0 h 216"/>
                <a:gd name="T4" fmla="*/ 201612500 w 216"/>
                <a:gd name="T5" fmla="*/ 5040313 h 216"/>
                <a:gd name="T6" fmla="*/ 156249688 w 216"/>
                <a:gd name="T7" fmla="*/ 25201563 h 216"/>
                <a:gd name="T8" fmla="*/ 115927188 w 216"/>
                <a:gd name="T9" fmla="*/ 45362813 h 216"/>
                <a:gd name="T10" fmla="*/ 75604688 w 216"/>
                <a:gd name="T11" fmla="*/ 80645000 h 216"/>
                <a:gd name="T12" fmla="*/ 75604688 w 216"/>
                <a:gd name="T13" fmla="*/ 80645000 h 216"/>
                <a:gd name="T14" fmla="*/ 40322500 w 216"/>
                <a:gd name="T15" fmla="*/ 120967500 h 216"/>
                <a:gd name="T16" fmla="*/ 15120938 w 216"/>
                <a:gd name="T17" fmla="*/ 171370625 h 216"/>
                <a:gd name="T18" fmla="*/ 0 w 216"/>
                <a:gd name="T19" fmla="*/ 221773750 h 216"/>
                <a:gd name="T20" fmla="*/ 0 w 216"/>
                <a:gd name="T21" fmla="*/ 272176875 h 216"/>
                <a:gd name="T22" fmla="*/ 0 w 216"/>
                <a:gd name="T23" fmla="*/ 322580000 h 216"/>
                <a:gd name="T24" fmla="*/ 15120938 w 216"/>
                <a:gd name="T25" fmla="*/ 372983125 h 216"/>
                <a:gd name="T26" fmla="*/ 40322500 w 216"/>
                <a:gd name="T27" fmla="*/ 423386250 h 216"/>
                <a:gd name="T28" fmla="*/ 75604688 w 216"/>
                <a:gd name="T29" fmla="*/ 463708750 h 216"/>
                <a:gd name="T30" fmla="*/ 75604688 w 216"/>
                <a:gd name="T31" fmla="*/ 463708750 h 216"/>
                <a:gd name="T32" fmla="*/ 120967500 w 216"/>
                <a:gd name="T33" fmla="*/ 498990938 h 216"/>
                <a:gd name="T34" fmla="*/ 166330313 w 216"/>
                <a:gd name="T35" fmla="*/ 524192500 h 216"/>
                <a:gd name="T36" fmla="*/ 216733438 w 216"/>
                <a:gd name="T37" fmla="*/ 539313438 h 216"/>
                <a:gd name="T38" fmla="*/ 272176875 w 216"/>
                <a:gd name="T39" fmla="*/ 544353750 h 216"/>
                <a:gd name="T40" fmla="*/ 322580000 w 216"/>
                <a:gd name="T41" fmla="*/ 539313438 h 216"/>
                <a:gd name="T42" fmla="*/ 372983125 w 216"/>
                <a:gd name="T43" fmla="*/ 524192500 h 216"/>
                <a:gd name="T44" fmla="*/ 423386250 w 216"/>
                <a:gd name="T45" fmla="*/ 498990938 h 216"/>
                <a:gd name="T46" fmla="*/ 463708750 w 216"/>
                <a:gd name="T47" fmla="*/ 463708750 h 216"/>
                <a:gd name="T48" fmla="*/ 463708750 w 216"/>
                <a:gd name="T49" fmla="*/ 463708750 h 216"/>
                <a:gd name="T50" fmla="*/ 498990938 w 216"/>
                <a:gd name="T51" fmla="*/ 428426563 h 216"/>
                <a:gd name="T52" fmla="*/ 519152188 w 216"/>
                <a:gd name="T53" fmla="*/ 383063750 h 216"/>
                <a:gd name="T54" fmla="*/ 534273125 w 216"/>
                <a:gd name="T55" fmla="*/ 337700938 h 216"/>
                <a:gd name="T56" fmla="*/ 544353750 w 216"/>
                <a:gd name="T57" fmla="*/ 292338125 h 216"/>
                <a:gd name="T58" fmla="*/ 252015625 w 216"/>
                <a:gd name="T59" fmla="*/ 292338125 h 216"/>
                <a:gd name="T60" fmla="*/ 252015625 w 216"/>
                <a:gd name="T61" fmla="*/ 0 h 21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16" h="216">
                  <a:moveTo>
                    <a:pt x="100" y="0"/>
                  </a:moveTo>
                  <a:lnTo>
                    <a:pt x="100" y="0"/>
                  </a:lnTo>
                  <a:lnTo>
                    <a:pt x="80" y="2"/>
                  </a:lnTo>
                  <a:lnTo>
                    <a:pt x="62" y="10"/>
                  </a:lnTo>
                  <a:lnTo>
                    <a:pt x="46" y="18"/>
                  </a:lnTo>
                  <a:lnTo>
                    <a:pt x="30" y="32"/>
                  </a:lnTo>
                  <a:lnTo>
                    <a:pt x="16" y="48"/>
                  </a:lnTo>
                  <a:lnTo>
                    <a:pt x="6" y="68"/>
                  </a:lnTo>
                  <a:lnTo>
                    <a:pt x="0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6" y="148"/>
                  </a:lnTo>
                  <a:lnTo>
                    <a:pt x="16" y="168"/>
                  </a:lnTo>
                  <a:lnTo>
                    <a:pt x="30" y="184"/>
                  </a:lnTo>
                  <a:lnTo>
                    <a:pt x="48" y="198"/>
                  </a:lnTo>
                  <a:lnTo>
                    <a:pt x="66" y="208"/>
                  </a:lnTo>
                  <a:lnTo>
                    <a:pt x="86" y="214"/>
                  </a:lnTo>
                  <a:lnTo>
                    <a:pt x="108" y="216"/>
                  </a:lnTo>
                  <a:lnTo>
                    <a:pt x="128" y="214"/>
                  </a:lnTo>
                  <a:lnTo>
                    <a:pt x="148" y="208"/>
                  </a:lnTo>
                  <a:lnTo>
                    <a:pt x="168" y="198"/>
                  </a:lnTo>
                  <a:lnTo>
                    <a:pt x="184" y="184"/>
                  </a:lnTo>
                  <a:lnTo>
                    <a:pt x="198" y="170"/>
                  </a:lnTo>
                  <a:lnTo>
                    <a:pt x="206" y="152"/>
                  </a:lnTo>
                  <a:lnTo>
                    <a:pt x="212" y="134"/>
                  </a:lnTo>
                  <a:lnTo>
                    <a:pt x="216" y="116"/>
                  </a:lnTo>
                  <a:lnTo>
                    <a:pt x="100" y="116"/>
                  </a:lnTo>
                  <a:lnTo>
                    <a:pt x="10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2" name="Freeform 12"/>
            <p:cNvSpPr/>
            <p:nvPr/>
          </p:nvSpPr>
          <p:spPr bwMode="auto">
            <a:xfrm>
              <a:off x="1238250" y="3008313"/>
              <a:ext cx="187325" cy="184150"/>
            </a:xfrm>
            <a:custGeom>
              <a:avLst/>
              <a:gdLst>
                <a:gd name="T0" fmla="*/ 216733438 w 118"/>
                <a:gd name="T1" fmla="*/ 80645000 h 116"/>
                <a:gd name="T2" fmla="*/ 216733438 w 118"/>
                <a:gd name="T3" fmla="*/ 80645000 h 116"/>
                <a:gd name="T4" fmla="*/ 196572188 w 118"/>
                <a:gd name="T5" fmla="*/ 60483750 h 116"/>
                <a:gd name="T6" fmla="*/ 171370625 w 118"/>
                <a:gd name="T7" fmla="*/ 40322500 h 116"/>
                <a:gd name="T8" fmla="*/ 141128750 w 118"/>
                <a:gd name="T9" fmla="*/ 25201563 h 116"/>
                <a:gd name="T10" fmla="*/ 115927188 w 118"/>
                <a:gd name="T11" fmla="*/ 15120938 h 116"/>
                <a:gd name="T12" fmla="*/ 90725625 w 118"/>
                <a:gd name="T13" fmla="*/ 5040313 h 116"/>
                <a:gd name="T14" fmla="*/ 60483750 w 118"/>
                <a:gd name="T15" fmla="*/ 0 h 116"/>
                <a:gd name="T16" fmla="*/ 30241875 w 118"/>
                <a:gd name="T17" fmla="*/ 0 h 116"/>
                <a:gd name="T18" fmla="*/ 0 w 118"/>
                <a:gd name="T19" fmla="*/ 0 h 116"/>
                <a:gd name="T20" fmla="*/ 0 w 118"/>
                <a:gd name="T21" fmla="*/ 292338125 h 116"/>
                <a:gd name="T22" fmla="*/ 297378438 w 118"/>
                <a:gd name="T23" fmla="*/ 292338125 h 116"/>
                <a:gd name="T24" fmla="*/ 297378438 w 118"/>
                <a:gd name="T25" fmla="*/ 292338125 h 116"/>
                <a:gd name="T26" fmla="*/ 297378438 w 118"/>
                <a:gd name="T27" fmla="*/ 267136563 h 116"/>
                <a:gd name="T28" fmla="*/ 297378438 w 118"/>
                <a:gd name="T29" fmla="*/ 236894688 h 116"/>
                <a:gd name="T30" fmla="*/ 287297813 w 118"/>
                <a:gd name="T31" fmla="*/ 206652813 h 116"/>
                <a:gd name="T32" fmla="*/ 282257500 w 118"/>
                <a:gd name="T33" fmla="*/ 181451250 h 116"/>
                <a:gd name="T34" fmla="*/ 272176875 w 118"/>
                <a:gd name="T35" fmla="*/ 151209375 h 116"/>
                <a:gd name="T36" fmla="*/ 257055938 w 118"/>
                <a:gd name="T37" fmla="*/ 126007813 h 116"/>
                <a:gd name="T38" fmla="*/ 236894688 w 118"/>
                <a:gd name="T39" fmla="*/ 100806250 h 116"/>
                <a:gd name="T40" fmla="*/ 216733438 w 118"/>
                <a:gd name="T41" fmla="*/ 80645000 h 116"/>
                <a:gd name="T42" fmla="*/ 216733438 w 118"/>
                <a:gd name="T43" fmla="*/ 80645000 h 11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18" h="116">
                  <a:moveTo>
                    <a:pt x="86" y="32"/>
                  </a:moveTo>
                  <a:lnTo>
                    <a:pt x="86" y="32"/>
                  </a:lnTo>
                  <a:lnTo>
                    <a:pt x="78" y="24"/>
                  </a:lnTo>
                  <a:lnTo>
                    <a:pt x="68" y="16"/>
                  </a:lnTo>
                  <a:lnTo>
                    <a:pt x="56" y="10"/>
                  </a:lnTo>
                  <a:lnTo>
                    <a:pt x="46" y="6"/>
                  </a:lnTo>
                  <a:lnTo>
                    <a:pt x="36" y="2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116"/>
                  </a:lnTo>
                  <a:lnTo>
                    <a:pt x="118" y="116"/>
                  </a:lnTo>
                  <a:lnTo>
                    <a:pt x="118" y="106"/>
                  </a:lnTo>
                  <a:lnTo>
                    <a:pt x="118" y="94"/>
                  </a:lnTo>
                  <a:lnTo>
                    <a:pt x="114" y="82"/>
                  </a:lnTo>
                  <a:lnTo>
                    <a:pt x="112" y="72"/>
                  </a:lnTo>
                  <a:lnTo>
                    <a:pt x="108" y="60"/>
                  </a:lnTo>
                  <a:lnTo>
                    <a:pt x="102" y="50"/>
                  </a:lnTo>
                  <a:lnTo>
                    <a:pt x="94" y="40"/>
                  </a:lnTo>
                  <a:lnTo>
                    <a:pt x="86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3" name="组合 13322"/>
          <p:cNvGrpSpPr/>
          <p:nvPr/>
        </p:nvGrpSpPr>
        <p:grpSpPr bwMode="auto">
          <a:xfrm>
            <a:off x="887600" y="4036068"/>
            <a:ext cx="374067" cy="399573"/>
            <a:chOff x="1946500" y="2659080"/>
            <a:chExt cx="249236" cy="264850"/>
          </a:xfrm>
          <a:solidFill>
            <a:schemeClr val="bg1"/>
          </a:solidFill>
        </p:grpSpPr>
        <p:sp>
          <p:nvSpPr>
            <p:cNvPr id="144" name="Rectangle 13"/>
            <p:cNvSpPr>
              <a:spLocks noChangeArrowheads="1"/>
            </p:cNvSpPr>
            <p:nvPr/>
          </p:nvSpPr>
          <p:spPr bwMode="auto">
            <a:xfrm>
              <a:off x="1946500" y="2712050"/>
              <a:ext cx="40474" cy="2118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5" name="Rectangle 14"/>
            <p:cNvSpPr>
              <a:spLocks noChangeArrowheads="1"/>
            </p:cNvSpPr>
            <p:nvPr/>
          </p:nvSpPr>
          <p:spPr bwMode="auto">
            <a:xfrm>
              <a:off x="2016797" y="2679947"/>
              <a:ext cx="40474" cy="2439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6" name="Rectangle 15"/>
            <p:cNvSpPr>
              <a:spLocks noChangeArrowheads="1"/>
            </p:cNvSpPr>
            <p:nvPr/>
          </p:nvSpPr>
          <p:spPr bwMode="auto">
            <a:xfrm>
              <a:off x="2084964" y="2659080"/>
              <a:ext cx="42604" cy="2648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7" name="Rectangle 16"/>
            <p:cNvSpPr>
              <a:spLocks noChangeArrowheads="1"/>
            </p:cNvSpPr>
            <p:nvPr/>
          </p:nvSpPr>
          <p:spPr bwMode="auto">
            <a:xfrm>
              <a:off x="2155262" y="2790702"/>
              <a:ext cx="40474" cy="13322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1624965"/>
              <a:endParaRPr lang="zh-CN" altLang="en-US" sz="3200" ker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8" name="任意多边形 147"/>
          <p:cNvSpPr/>
          <p:nvPr/>
        </p:nvSpPr>
        <p:spPr>
          <a:xfrm>
            <a:off x="7111071" y="2366247"/>
            <a:ext cx="4262632" cy="1099535"/>
          </a:xfrm>
          <a:custGeom>
            <a:avLst/>
            <a:gdLst>
              <a:gd name="connsiteX0" fmla="*/ 0 w 1495425"/>
              <a:gd name="connsiteY0" fmla="*/ 581025 h 581025"/>
              <a:gd name="connsiteX1" fmla="*/ 333375 w 1495425"/>
              <a:gd name="connsiteY1" fmla="*/ 0 h 581025"/>
              <a:gd name="connsiteX2" fmla="*/ 1238250 w 1495425"/>
              <a:gd name="connsiteY2" fmla="*/ 0 h 581025"/>
              <a:gd name="connsiteX3" fmla="*/ 1495425 w 1495425"/>
              <a:gd name="connsiteY3" fmla="*/ 0 h 581025"/>
              <a:gd name="connsiteX0-1" fmla="*/ 0 w 1238249"/>
              <a:gd name="connsiteY0-2" fmla="*/ 581025 h 581025"/>
              <a:gd name="connsiteX1-3" fmla="*/ 333375 w 1238249"/>
              <a:gd name="connsiteY1-4" fmla="*/ 0 h 581025"/>
              <a:gd name="connsiteX2-5" fmla="*/ 1238250 w 1238249"/>
              <a:gd name="connsiteY2-6" fmla="*/ 0 h 581025"/>
              <a:gd name="connsiteX0-7" fmla="*/ 0 w 2896333"/>
              <a:gd name="connsiteY0-8" fmla="*/ 581025 h 581025"/>
              <a:gd name="connsiteX1-9" fmla="*/ 333375 w 2896333"/>
              <a:gd name="connsiteY1-10" fmla="*/ 0 h 581025"/>
              <a:gd name="connsiteX2-11" fmla="*/ 2896333 w 2896333"/>
              <a:gd name="connsiteY2-12" fmla="*/ 0 h 5810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896333" h="581025">
                <a:moveTo>
                  <a:pt x="0" y="581025"/>
                </a:moveTo>
                <a:lnTo>
                  <a:pt x="333375" y="0"/>
                </a:lnTo>
                <a:lnTo>
                  <a:pt x="2896333" y="0"/>
                </a:lnTo>
              </a:path>
            </a:pathLst>
          </a:custGeom>
          <a:noFill/>
          <a:ln w="12700" cap="flat" cmpd="sng" algn="ctr">
            <a:solidFill>
              <a:srgbClr val="15F2FA"/>
            </a:solidFill>
            <a:prstDash val="dash"/>
            <a:headEnd type="oval" w="med" len="med"/>
          </a:ln>
          <a:effectLst/>
        </p:spPr>
        <p:txBody>
          <a:bodyPr lIns="162552" tIns="81276" rIns="162552" bIns="81276" anchor="ctr"/>
          <a:lstStyle/>
          <a:p>
            <a:pPr algn="ctr" defTabSz="1624965">
              <a:defRPr/>
            </a:pPr>
            <a:endParaRPr lang="zh-CN" altLang="en-US" sz="3200" kern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149" name="任意多边形 148"/>
          <p:cNvSpPr/>
          <p:nvPr/>
        </p:nvSpPr>
        <p:spPr>
          <a:xfrm>
            <a:off x="6934607" y="4830920"/>
            <a:ext cx="4439096" cy="1108037"/>
          </a:xfrm>
          <a:custGeom>
            <a:avLst/>
            <a:gdLst>
              <a:gd name="connsiteX0" fmla="*/ 0 w 1495425"/>
              <a:gd name="connsiteY0" fmla="*/ 581025 h 581025"/>
              <a:gd name="connsiteX1" fmla="*/ 333375 w 1495425"/>
              <a:gd name="connsiteY1" fmla="*/ 0 h 581025"/>
              <a:gd name="connsiteX2" fmla="*/ 1238250 w 1495425"/>
              <a:gd name="connsiteY2" fmla="*/ 0 h 581025"/>
              <a:gd name="connsiteX3" fmla="*/ 1495425 w 1495425"/>
              <a:gd name="connsiteY3" fmla="*/ 0 h 581025"/>
              <a:gd name="connsiteX0-1" fmla="*/ 0 w 1238249"/>
              <a:gd name="connsiteY0-2" fmla="*/ 581025 h 581025"/>
              <a:gd name="connsiteX1-3" fmla="*/ 333375 w 1238249"/>
              <a:gd name="connsiteY1-4" fmla="*/ 0 h 581025"/>
              <a:gd name="connsiteX2-5" fmla="*/ 1238250 w 1238249"/>
              <a:gd name="connsiteY2-6" fmla="*/ 0 h 581025"/>
              <a:gd name="connsiteX0-7" fmla="*/ 0 w 2528430"/>
              <a:gd name="connsiteY0-8" fmla="*/ 587027 h 587027"/>
              <a:gd name="connsiteX1-9" fmla="*/ 333375 w 2528430"/>
              <a:gd name="connsiteY1-10" fmla="*/ 6002 h 587027"/>
              <a:gd name="connsiteX2-11" fmla="*/ 2528430 w 2528430"/>
              <a:gd name="connsiteY2-12" fmla="*/ 0 h 5870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28430" h="587027">
                <a:moveTo>
                  <a:pt x="0" y="587027"/>
                </a:moveTo>
                <a:lnTo>
                  <a:pt x="333375" y="6002"/>
                </a:lnTo>
                <a:lnTo>
                  <a:pt x="2528430" y="0"/>
                </a:lnTo>
              </a:path>
            </a:pathLst>
          </a:custGeom>
          <a:noFill/>
          <a:ln w="12700" cap="flat" cmpd="sng" algn="ctr">
            <a:solidFill>
              <a:srgbClr val="15F2FA"/>
            </a:solidFill>
            <a:prstDash val="dash"/>
            <a:headEnd type="oval" w="med" len="med"/>
          </a:ln>
          <a:effectLst/>
        </p:spPr>
        <p:txBody>
          <a:bodyPr lIns="162552" tIns="81276" rIns="162552" bIns="81276" anchor="ctr"/>
          <a:lstStyle/>
          <a:p>
            <a:pPr algn="ctr" defTabSz="1624965">
              <a:defRPr/>
            </a:pPr>
            <a:endParaRPr lang="zh-CN" altLang="en-US" sz="3200" kern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150" name="Oval 54"/>
          <p:cNvSpPr>
            <a:spLocks noChangeArrowheads="1"/>
          </p:cNvSpPr>
          <p:nvPr/>
        </p:nvSpPr>
        <p:spPr bwMode="auto">
          <a:xfrm>
            <a:off x="4882167" y="3525011"/>
            <a:ext cx="147360" cy="14736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162552" tIns="81276" rIns="162552" bIns="81276"/>
          <a:lstStyle/>
          <a:p>
            <a:pPr defTabSz="1624965">
              <a:defRPr/>
            </a:pPr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51" name="Oval 54"/>
          <p:cNvSpPr>
            <a:spLocks noChangeArrowheads="1"/>
          </p:cNvSpPr>
          <p:nvPr/>
        </p:nvSpPr>
        <p:spPr bwMode="auto">
          <a:xfrm>
            <a:off x="7025032" y="3431816"/>
            <a:ext cx="147360" cy="14736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162552" tIns="81276" rIns="162552" bIns="81276"/>
          <a:lstStyle/>
          <a:p>
            <a:pPr defTabSz="1624965">
              <a:defRPr/>
            </a:pPr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52" name="Oval 54"/>
          <p:cNvSpPr>
            <a:spLocks noChangeArrowheads="1"/>
          </p:cNvSpPr>
          <p:nvPr/>
        </p:nvSpPr>
        <p:spPr bwMode="auto">
          <a:xfrm>
            <a:off x="6833011" y="5873928"/>
            <a:ext cx="147360" cy="14736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162552" tIns="81276" rIns="162552" bIns="81276"/>
          <a:lstStyle/>
          <a:p>
            <a:pPr defTabSz="1624965">
              <a:defRPr/>
            </a:pPr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53" name="Oval 54"/>
          <p:cNvSpPr>
            <a:spLocks noChangeArrowheads="1"/>
          </p:cNvSpPr>
          <p:nvPr/>
        </p:nvSpPr>
        <p:spPr bwMode="auto">
          <a:xfrm>
            <a:off x="4388083" y="5612587"/>
            <a:ext cx="147360" cy="14736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162552" tIns="81276" rIns="162552" bIns="81276"/>
          <a:lstStyle/>
          <a:p>
            <a:pPr defTabSz="1624965">
              <a:defRPr/>
            </a:pPr>
            <a:endParaRPr lang="zh-CN" altLang="en-US" sz="32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0993917"/>
      </p:ext>
    </p:extLst>
  </p:cSld>
  <p:clrMapOvr>
    <a:masterClrMapping/>
  </p:clrMapOvr>
  <p:transition advTm="7956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126" grpId="0" bldLvl="0" animBg="1"/>
      <p:bldP spid="127" grpId="0" bldLvl="0" animBg="1"/>
      <p:bldP spid="128" grpId="0"/>
      <p:bldP spid="129" grpId="0" bldLvl="0" animBg="1"/>
      <p:bldP spid="130" grpId="0"/>
      <p:bldP spid="131" grpId="0" bldLvl="0" animBg="1"/>
      <p:bldP spid="132" grpId="0"/>
      <p:bldP spid="133" grpId="0"/>
      <p:bldP spid="134" grpId="0" bldLvl="0" animBg="1"/>
      <p:bldP spid="148" grpId="0" bldLvl="0" animBg="1"/>
      <p:bldP spid="149" grpId="0" bldLvl="0" animBg="1"/>
      <p:bldP spid="150" grpId="0" bldLvl="0" animBg="1"/>
      <p:bldP spid="151" grpId="0" bldLvl="0" animBg="1"/>
      <p:bldP spid="152" grpId="0" bldLvl="0" animBg="1"/>
      <p:bldP spid="15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0970" y="226695"/>
            <a:ext cx="389064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15F2FA"/>
                </a:solidFill>
                <a:cs typeface="+mn-ea"/>
                <a:sym typeface="+mn-lt"/>
              </a:rPr>
              <a:t>Spark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799888"/>
            <a:ext cx="12192000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空心弧 3"/>
          <p:cNvSpPr/>
          <p:nvPr/>
        </p:nvSpPr>
        <p:spPr>
          <a:xfrm rot="16200000">
            <a:off x="1624543" y="2633250"/>
            <a:ext cx="2931583" cy="2933700"/>
          </a:xfrm>
          <a:prstGeom prst="blockArc">
            <a:avLst>
              <a:gd name="adj1" fmla="val 9034725"/>
              <a:gd name="adj2" fmla="val 2183001"/>
              <a:gd name="adj3" fmla="val 8278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空心弧 4"/>
          <p:cNvSpPr/>
          <p:nvPr/>
        </p:nvSpPr>
        <p:spPr>
          <a:xfrm rot="16426183">
            <a:off x="1859493" y="2870317"/>
            <a:ext cx="2432049" cy="2434167"/>
          </a:xfrm>
          <a:prstGeom prst="blockArc">
            <a:avLst>
              <a:gd name="adj1" fmla="val 12042876"/>
              <a:gd name="adj2" fmla="val 2021315"/>
              <a:gd name="adj3" fmla="val 9632"/>
            </a:avLst>
          </a:prstGeom>
          <a:solidFill>
            <a:srgbClr val="15F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" name="空心弧 5"/>
          <p:cNvSpPr/>
          <p:nvPr/>
        </p:nvSpPr>
        <p:spPr>
          <a:xfrm rot="16200000">
            <a:off x="1356785" y="2393009"/>
            <a:ext cx="3414183" cy="3414183"/>
          </a:xfrm>
          <a:prstGeom prst="blockArc">
            <a:avLst>
              <a:gd name="adj1" fmla="val 7274497"/>
              <a:gd name="adj2" fmla="val 2258975"/>
              <a:gd name="adj3" fmla="val 8108"/>
            </a:avLst>
          </a:prstGeom>
          <a:solidFill>
            <a:srgbClr val="318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80167" y="3853509"/>
            <a:ext cx="2694517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15F2FA"/>
                </a:solidFill>
                <a:cs typeface="+mn-ea"/>
                <a:sym typeface="+mn-lt"/>
              </a:rPr>
              <a:t>Spark</a:t>
            </a:r>
          </a:p>
        </p:txBody>
      </p:sp>
      <p:grpSp>
        <p:nvGrpSpPr>
          <p:cNvPr id="8" name="组合 7"/>
          <p:cNvGrpSpPr/>
          <p:nvPr/>
        </p:nvGrpSpPr>
        <p:grpSpPr bwMode="auto">
          <a:xfrm>
            <a:off x="6000751" y="1726258"/>
            <a:ext cx="5082116" cy="1672873"/>
            <a:chOff x="4879109" y="959275"/>
            <a:chExt cx="3811400" cy="1253149"/>
          </a:xfrm>
        </p:grpSpPr>
        <p:sp>
          <p:nvSpPr>
            <p:cNvPr id="9" name="矩形 8"/>
            <p:cNvSpPr/>
            <p:nvPr/>
          </p:nvSpPr>
          <p:spPr>
            <a:xfrm>
              <a:off x="4974354" y="1075024"/>
              <a:ext cx="358757" cy="229911"/>
            </a:xfrm>
            <a:prstGeom prst="rect">
              <a:avLst/>
            </a:prstGeom>
            <a:solidFill>
              <a:srgbClr val="15F2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TextBox 8"/>
            <p:cNvSpPr txBox="1"/>
            <p:nvPr/>
          </p:nvSpPr>
          <p:spPr>
            <a:xfrm>
              <a:off x="4879109" y="1346160"/>
              <a:ext cx="3811400" cy="8662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Spark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基于内存计算，速度比</a:t>
              </a: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Hadoop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快；支持多语言、复杂查询及实时流处理；容错性强（</a:t>
              </a: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RDD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机制），适合迭代计算和实时分析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5437882" y="959275"/>
              <a:ext cx="2020788" cy="438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3200" b="1" dirty="0">
                  <a:solidFill>
                    <a:srgbClr val="15F2FA"/>
                  </a:solidFill>
                  <a:cs typeface="+mn-ea"/>
                  <a:sym typeface="+mn-lt"/>
                </a:rPr>
                <a:t>核心优势</a:t>
              </a:r>
            </a:p>
          </p:txBody>
        </p:sp>
      </p:grpSp>
      <p:grpSp>
        <p:nvGrpSpPr>
          <p:cNvPr id="12" name="组合 11"/>
          <p:cNvGrpSpPr/>
          <p:nvPr/>
        </p:nvGrpSpPr>
        <p:grpSpPr bwMode="auto">
          <a:xfrm>
            <a:off x="6000751" y="3398425"/>
            <a:ext cx="5082116" cy="1672874"/>
            <a:chOff x="4879109" y="2212719"/>
            <a:chExt cx="3811399" cy="1255074"/>
          </a:xfrm>
        </p:grpSpPr>
        <p:sp>
          <p:nvSpPr>
            <p:cNvPr id="13" name="矩形 12"/>
            <p:cNvSpPr/>
            <p:nvPr/>
          </p:nvSpPr>
          <p:spPr>
            <a:xfrm>
              <a:off x="4974354" y="2328646"/>
              <a:ext cx="358757" cy="2302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TextBox 12"/>
            <p:cNvSpPr txBox="1"/>
            <p:nvPr/>
          </p:nvSpPr>
          <p:spPr>
            <a:xfrm>
              <a:off x="4879109" y="2600198"/>
              <a:ext cx="3811399" cy="86759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Spark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通过内存缓存加速计算，多线程模型提升效率，支持</a:t>
              </a: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SQL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、机器学习等高级</a:t>
              </a: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API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，并整合流处理（</a:t>
              </a: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Spark Streaming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），实现批流一体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5437881" y="2212719"/>
              <a:ext cx="2020787" cy="43872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3200" b="1" dirty="0">
                  <a:solidFill>
                    <a:srgbClr val="15F2FA"/>
                  </a:solidFill>
                  <a:cs typeface="+mn-ea"/>
                  <a:sym typeface="+mn-lt"/>
                </a:rPr>
                <a:t>核心功能</a:t>
              </a:r>
            </a:p>
          </p:txBody>
        </p:sp>
      </p:grpSp>
      <p:grpSp>
        <p:nvGrpSpPr>
          <p:cNvPr id="16" name="组合 15"/>
          <p:cNvGrpSpPr/>
          <p:nvPr/>
        </p:nvGrpSpPr>
        <p:grpSpPr bwMode="auto">
          <a:xfrm>
            <a:off x="6000751" y="4973227"/>
            <a:ext cx="5082116" cy="1672874"/>
            <a:chOff x="4879110" y="3393600"/>
            <a:chExt cx="3811398" cy="1255074"/>
          </a:xfrm>
        </p:grpSpPr>
        <p:sp>
          <p:nvSpPr>
            <p:cNvPr id="17" name="矩形 16"/>
            <p:cNvSpPr/>
            <p:nvPr/>
          </p:nvSpPr>
          <p:spPr>
            <a:xfrm>
              <a:off x="4974355" y="3509527"/>
              <a:ext cx="358757" cy="230264"/>
            </a:xfrm>
            <a:prstGeom prst="rect">
              <a:avLst/>
            </a:prstGeom>
            <a:solidFill>
              <a:srgbClr val="3185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879110" y="3781079"/>
              <a:ext cx="3811398" cy="86759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Spark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内存计算减少</a:t>
              </a: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I/O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开销，编程更灵活；</a:t>
              </a: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Hadoop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依赖磁盘存储，适合离线批处理。</a:t>
              </a:r>
              <a:r>
                <a:rPr lang="en-US" altLang="zh-CN" sz="1600" dirty="0">
                  <a:solidFill>
                    <a:srgbClr val="15F2FA"/>
                  </a:solidFill>
                  <a:cs typeface="+mn-ea"/>
                  <a:sym typeface="+mn-lt"/>
                </a:rPr>
                <a:t>Spark</a:t>
              </a:r>
              <a:r>
                <a:rPr lang="zh-CN" altLang="en-US" sz="1600" dirty="0">
                  <a:solidFill>
                    <a:srgbClr val="15F2FA"/>
                  </a:solidFill>
                  <a:cs typeface="+mn-ea"/>
                  <a:sym typeface="+mn-lt"/>
                </a:rPr>
                <a:t>在实时性和复杂任务处理上更具优势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5437882" y="3393600"/>
              <a:ext cx="2560511" cy="4387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3200" b="1" dirty="0">
                  <a:solidFill>
                    <a:srgbClr val="15F2FA"/>
                  </a:solidFill>
                  <a:cs typeface="+mn-ea"/>
                  <a:sym typeface="+mn-lt"/>
                </a:rPr>
                <a:t>与</a:t>
              </a:r>
              <a:r>
                <a:rPr lang="en-US" altLang="zh-CN" sz="3200" b="1" dirty="0">
                  <a:solidFill>
                    <a:srgbClr val="15F2FA"/>
                  </a:solidFill>
                  <a:cs typeface="+mn-ea"/>
                  <a:sym typeface="+mn-lt"/>
                </a:rPr>
                <a:t>Hadoop</a:t>
              </a:r>
              <a:r>
                <a:rPr lang="zh-CN" altLang="en-US" sz="3200" b="1" dirty="0">
                  <a:solidFill>
                    <a:srgbClr val="15F2FA"/>
                  </a:solidFill>
                  <a:cs typeface="+mn-ea"/>
                  <a:sym typeface="+mn-lt"/>
                </a:rPr>
                <a:t>对比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040455"/>
      </p:ext>
    </p:extLst>
  </p:cSld>
  <p:clrMapOvr>
    <a:masterClrMapping/>
  </p:clrMapOvr>
  <p:transition advTm="716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1760" y="-17225"/>
            <a:ext cx="8908481" cy="6892450"/>
          </a:xfrm>
          <a:prstGeom prst="rect">
            <a:avLst/>
          </a:prstGeom>
        </p:spPr>
      </p:pic>
      <p:sp>
        <p:nvSpPr>
          <p:cNvPr id="5" name="TextBox 13"/>
          <p:cNvSpPr txBox="1"/>
          <p:nvPr/>
        </p:nvSpPr>
        <p:spPr>
          <a:xfrm>
            <a:off x="2309255" y="3594447"/>
            <a:ext cx="7827659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3500" dirty="0">
                <a:solidFill>
                  <a:srgbClr val="15F2FA"/>
                </a:solidFill>
                <a:latin typeface="+mn-lt"/>
                <a:ea typeface="+mn-ea"/>
                <a:cs typeface="+mn-ea"/>
                <a:sym typeface="+mn-lt"/>
              </a:rPr>
              <a:t>国内、国外、高校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5237819" y="1504690"/>
            <a:ext cx="1973685" cy="1982018"/>
          </a:xfrm>
          <a:prstGeom prst="ellipse">
            <a:avLst/>
          </a:prstGeom>
          <a:solidFill>
            <a:srgbClr val="15F2F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843" tIns="45422" rIns="90843" bIns="45422" numCol="1" rtlCol="0" anchor="t" anchorCtr="0" compatLnSpc="1"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Freeform 8"/>
          <p:cNvSpPr/>
          <p:nvPr/>
        </p:nvSpPr>
        <p:spPr bwMode="auto">
          <a:xfrm>
            <a:off x="5140594" y="2516937"/>
            <a:ext cx="2168135" cy="1097262"/>
          </a:xfrm>
          <a:custGeom>
            <a:avLst/>
            <a:gdLst>
              <a:gd name="T0" fmla="*/ 3963 w 3963"/>
              <a:gd name="T1" fmla="*/ 0 h 1997"/>
              <a:gd name="T2" fmla="*/ 3963 w 3963"/>
              <a:gd name="T3" fmla="*/ 16 h 1997"/>
              <a:gd name="T4" fmla="*/ 1982 w 3963"/>
              <a:gd name="T5" fmla="*/ 1997 h 1997"/>
              <a:gd name="T6" fmla="*/ 0 w 3963"/>
              <a:gd name="T7" fmla="*/ 16 h 1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63" h="1997">
                <a:moveTo>
                  <a:pt x="3963" y="0"/>
                </a:moveTo>
                <a:cubicBezTo>
                  <a:pt x="3963" y="5"/>
                  <a:pt x="3963" y="11"/>
                  <a:pt x="3963" y="16"/>
                </a:cubicBezTo>
                <a:cubicBezTo>
                  <a:pt x="3963" y="1110"/>
                  <a:pt x="3076" y="1997"/>
                  <a:pt x="1982" y="1997"/>
                </a:cubicBezTo>
                <a:cubicBezTo>
                  <a:pt x="888" y="1997"/>
                  <a:pt x="0" y="1110"/>
                  <a:pt x="0" y="16"/>
                </a:cubicBezTo>
              </a:path>
            </a:pathLst>
          </a:custGeom>
          <a:noFill/>
          <a:ln w="8" cap="flat" cmpd="sng">
            <a:solidFill>
              <a:srgbClr val="4E4B49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</a:extLst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7246567" y="2480278"/>
            <a:ext cx="122227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5086039" y="2480278"/>
            <a:ext cx="120840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5380579" y="1543551"/>
            <a:ext cx="1685011" cy="1435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sz="8740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endParaRPr lang="en-US" altLang="en-US" sz="8740" b="1" dirty="0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5380579" y="2746750"/>
            <a:ext cx="1685011" cy="530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45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研究现状</a:t>
            </a:r>
          </a:p>
        </p:txBody>
      </p:sp>
    </p:spTree>
  </p:cSld>
  <p:clrMapOvr>
    <a:masterClrMapping/>
  </p:clrMapOvr>
  <p:transition advTm="5195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0.00312 0.04328 L -0.01614 0.09305 C -0.02422 0.10926 -0.03776 0.13009 -0.05 0.14097 C -0.06198 0.15208 -0.07382 0.16018 -0.08776 0.15949 C -0.10755 0.15949 -0.12174 0.14815 -0.13359 0.13773 C -0.14557 0.12731 -0.15299 0.11203 -0.15976 0.09676 L -0.17461 0.04629 L -0.17955 2.22222E-6 " pathEditMode="relative" rAng="0" ptsTypes="AAAAAAAAA">
                                      <p:cBhvr>
                                        <p:cTn id="30" dur="1000" spd="-99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84" y="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ldLvl="0" animBg="1" autoUpdateAnimBg="0"/>
      <p:bldP spid="8" grpId="0" bldLvl="0" animBg="1"/>
      <p:bldP spid="9" grpId="0" bldLvl="0" animBg="1" autoUpdateAnimBg="0"/>
      <p:bldP spid="9" grpId="1" bldLvl="0" animBg="1" autoUpdateAnimBg="0"/>
      <p:bldP spid="10" grpId="0" bldLvl="0" animBg="1" autoUpdateAnimBg="0"/>
      <p:bldP spid="11" grpId="0" autoUpdateAnimBg="0"/>
      <p:bldP spid="1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0970" y="226695"/>
            <a:ext cx="389064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研究进展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799888"/>
            <a:ext cx="12192000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111953" y="1743431"/>
            <a:ext cx="1394979" cy="12481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56101" y="1743431"/>
            <a:ext cx="1394979" cy="1248139"/>
          </a:xfrm>
          <a:prstGeom prst="rect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07964" y="1952485"/>
            <a:ext cx="1198845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335" b="1" dirty="0">
                <a:solidFill>
                  <a:srgbClr val="064959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7" name="矩形 6"/>
          <p:cNvSpPr/>
          <p:nvPr/>
        </p:nvSpPr>
        <p:spPr>
          <a:xfrm>
            <a:off x="4664348" y="1743431"/>
            <a:ext cx="1394979" cy="12481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08496" y="1743431"/>
            <a:ext cx="1394979" cy="1248139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60359" y="1952485"/>
            <a:ext cx="1198845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335" b="1" dirty="0">
                <a:solidFill>
                  <a:srgbClr val="064959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10" name="矩形 9"/>
          <p:cNvSpPr/>
          <p:nvPr/>
        </p:nvSpPr>
        <p:spPr>
          <a:xfrm>
            <a:off x="8408762" y="1743431"/>
            <a:ext cx="1394979" cy="12481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752910" y="1743431"/>
            <a:ext cx="1394979" cy="1248139"/>
          </a:xfrm>
          <a:prstGeom prst="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4773" y="1952485"/>
            <a:ext cx="1198845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335" b="1" dirty="0">
                <a:solidFill>
                  <a:srgbClr val="064959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760" y="3320309"/>
            <a:ext cx="2976331" cy="3003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5F2FA"/>
                </a:solidFill>
                <a:cs typeface="+mn-ea"/>
                <a:sym typeface="+mn-lt"/>
              </a:rPr>
              <a:t>Google</a:t>
            </a:r>
            <a:r>
              <a:rPr lang="zh-CN" altLang="en-US" sz="1600" dirty="0">
                <a:solidFill>
                  <a:srgbClr val="15F2FA"/>
                </a:solidFill>
                <a:cs typeface="+mn-ea"/>
                <a:sym typeface="+mn-lt"/>
              </a:rPr>
              <a:t>的</a:t>
            </a:r>
            <a:r>
              <a:rPr lang="en-US" altLang="zh-CN" sz="1600" dirty="0">
                <a:solidFill>
                  <a:srgbClr val="15F2FA"/>
                </a:solidFill>
                <a:cs typeface="+mn-ea"/>
                <a:sym typeface="+mn-lt"/>
              </a:rPr>
              <a:t>GFS</a:t>
            </a:r>
            <a:r>
              <a:rPr lang="zh-CN" altLang="en-US" sz="1600" dirty="0">
                <a:solidFill>
                  <a:srgbClr val="15F2FA"/>
                </a:solidFill>
                <a:cs typeface="+mn-ea"/>
                <a:sym typeface="+mn-lt"/>
              </a:rPr>
              <a:t>、</a:t>
            </a:r>
            <a:r>
              <a:rPr lang="en-US" altLang="zh-CN" sz="1600" dirty="0" err="1">
                <a:solidFill>
                  <a:srgbClr val="15F2FA"/>
                </a:solidFill>
                <a:cs typeface="+mn-ea"/>
                <a:sym typeface="+mn-lt"/>
              </a:rPr>
              <a:t>BigTable</a:t>
            </a:r>
            <a:r>
              <a:rPr lang="zh-CN" altLang="en-US" sz="1600" dirty="0">
                <a:solidFill>
                  <a:srgbClr val="15F2FA"/>
                </a:solidFill>
                <a:cs typeface="+mn-ea"/>
                <a:sym typeface="+mn-lt"/>
              </a:rPr>
              <a:t>和</a:t>
            </a:r>
            <a:r>
              <a:rPr lang="en-US" altLang="zh-CN" sz="1600" dirty="0">
                <a:solidFill>
                  <a:srgbClr val="15F2FA"/>
                </a:solidFill>
                <a:cs typeface="+mn-ea"/>
                <a:sym typeface="+mn-lt"/>
              </a:rPr>
              <a:t>MapReduce</a:t>
            </a:r>
            <a:r>
              <a:rPr lang="zh-CN" altLang="en-US" sz="1600" dirty="0">
                <a:solidFill>
                  <a:srgbClr val="15F2FA"/>
                </a:solidFill>
                <a:cs typeface="+mn-ea"/>
                <a:sym typeface="+mn-lt"/>
              </a:rPr>
              <a:t>奠定了大数据技术基础。</a:t>
            </a:r>
            <a:r>
              <a:rPr lang="en-US" altLang="zh-CN" sz="1600" dirty="0">
                <a:solidFill>
                  <a:srgbClr val="15F2FA"/>
                </a:solidFill>
                <a:cs typeface="+mn-ea"/>
                <a:sym typeface="+mn-lt"/>
              </a:rPr>
              <a:t>John Deere</a:t>
            </a:r>
            <a:r>
              <a:rPr lang="zh-CN" altLang="en-US" sz="1600" dirty="0">
                <a:solidFill>
                  <a:srgbClr val="15F2FA"/>
                </a:solidFill>
                <a:cs typeface="+mn-ea"/>
                <a:sym typeface="+mn-lt"/>
              </a:rPr>
              <a:t>的精准农业平台整合物联网技术，实现农田智能监测和农机自动化作业，显著提升生产效率。</a:t>
            </a:r>
            <a:r>
              <a:rPr lang="en-US" altLang="zh-CN" sz="1600" dirty="0">
                <a:solidFill>
                  <a:srgbClr val="15F2FA"/>
                </a:solidFill>
                <a:cs typeface="+mn-ea"/>
                <a:sym typeface="+mn-lt"/>
              </a:rPr>
              <a:t>Climate Corporation</a:t>
            </a:r>
            <a:r>
              <a:rPr lang="zh-CN" altLang="en-US" sz="1600" dirty="0">
                <a:solidFill>
                  <a:srgbClr val="15F2FA"/>
                </a:solidFill>
                <a:cs typeface="+mn-ea"/>
                <a:sym typeface="+mn-lt"/>
              </a:rPr>
              <a:t>利用气象数据提供农业风险管理服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3154" y="3345088"/>
            <a:ext cx="2976331" cy="305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阿里云</a:t>
            </a:r>
            <a:r>
              <a:rPr lang="en-US" altLang="zh-CN" sz="1865" dirty="0">
                <a:solidFill>
                  <a:srgbClr val="15F2FA"/>
                </a:solidFill>
                <a:cs typeface="+mn-ea"/>
                <a:sym typeface="+mn-lt"/>
              </a:rPr>
              <a:t>ET</a:t>
            </a: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农业大脑通过</a:t>
            </a:r>
            <a:r>
              <a:rPr lang="en-US" altLang="zh-CN" sz="1865" dirty="0">
                <a:solidFill>
                  <a:srgbClr val="15F2FA"/>
                </a:solidFill>
                <a:cs typeface="+mn-ea"/>
                <a:sym typeface="+mn-lt"/>
              </a:rPr>
              <a:t>AI</a:t>
            </a: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技术实现生猪智能化养殖管理。华为基于</a:t>
            </a:r>
            <a:r>
              <a:rPr lang="en-US" altLang="zh-CN" sz="1865" dirty="0">
                <a:solidFill>
                  <a:srgbClr val="15F2FA"/>
                </a:solidFill>
                <a:cs typeface="+mn-ea"/>
                <a:sym typeface="+mn-lt"/>
              </a:rPr>
              <a:t>5G</a:t>
            </a: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技术打造智慧农业平台，支持无人机植保和农产品溯源。国内科技企业正加速农业数字化转型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8762" y="3345088"/>
            <a:ext cx="2976331" cy="2624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65" dirty="0">
                <a:solidFill>
                  <a:srgbClr val="15F2FA"/>
                </a:solidFill>
                <a:cs typeface="+mn-ea"/>
                <a:sym typeface="+mn-lt"/>
              </a:rPr>
              <a:t>中国农大研发作物表型监测系统和农业机器人技术。浙大构建农业大数据分析平台实现产量预测。西北农林开发智能灌溉系统，推动干旱地区农业发展</a:t>
            </a:r>
          </a:p>
        </p:txBody>
      </p:sp>
    </p:spTree>
  </p:cSld>
  <p:clrMapOvr>
    <a:masterClrMapping/>
  </p:clrMapOvr>
  <p:transition advTm="351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ldLvl="0" animBg="1"/>
      <p:bldP spid="5" grpId="0" bldLvl="0" animBg="1"/>
      <p:bldP spid="6" grpId="0"/>
      <p:bldP spid="7" grpId="0" bldLvl="0" animBg="1"/>
      <p:bldP spid="8" grpId="0" bldLvl="0" animBg="1"/>
      <p:bldP spid="9" grpId="0"/>
      <p:bldP spid="10" grpId="0" bldLvl="0" animBg="1"/>
      <p:bldP spid="11" grpId="0" bldLvl="0" animBg="1"/>
      <p:bldP spid="12" grpId="0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1760" y="-17225"/>
            <a:ext cx="8908481" cy="6892450"/>
          </a:xfrm>
          <a:prstGeom prst="rect">
            <a:avLst/>
          </a:prstGeom>
        </p:spPr>
      </p:pic>
      <p:sp>
        <p:nvSpPr>
          <p:cNvPr id="5" name="TextBox 13"/>
          <p:cNvSpPr txBox="1"/>
          <p:nvPr/>
        </p:nvSpPr>
        <p:spPr>
          <a:xfrm>
            <a:off x="2309255" y="3594447"/>
            <a:ext cx="7827659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3500" dirty="0">
                <a:solidFill>
                  <a:srgbClr val="15F2FA"/>
                </a:solidFill>
                <a:latin typeface="+mn-lt"/>
                <a:ea typeface="+mn-ea"/>
                <a:cs typeface="+mn-ea"/>
                <a:sym typeface="+mn-lt"/>
              </a:rPr>
              <a:t>产量、虫害、供应链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5237819" y="1504690"/>
            <a:ext cx="1973685" cy="1982018"/>
          </a:xfrm>
          <a:prstGeom prst="ellipse">
            <a:avLst/>
          </a:prstGeom>
          <a:solidFill>
            <a:srgbClr val="15F2F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843" tIns="45422" rIns="90843" bIns="45422" numCol="1" rtlCol="0" anchor="t" anchorCtr="0" compatLnSpc="1"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Freeform 8"/>
          <p:cNvSpPr/>
          <p:nvPr/>
        </p:nvSpPr>
        <p:spPr bwMode="auto">
          <a:xfrm>
            <a:off x="5140594" y="2516937"/>
            <a:ext cx="2168135" cy="1097262"/>
          </a:xfrm>
          <a:custGeom>
            <a:avLst/>
            <a:gdLst>
              <a:gd name="T0" fmla="*/ 3963 w 3963"/>
              <a:gd name="T1" fmla="*/ 0 h 1997"/>
              <a:gd name="T2" fmla="*/ 3963 w 3963"/>
              <a:gd name="T3" fmla="*/ 16 h 1997"/>
              <a:gd name="T4" fmla="*/ 1982 w 3963"/>
              <a:gd name="T5" fmla="*/ 1997 h 1997"/>
              <a:gd name="T6" fmla="*/ 0 w 3963"/>
              <a:gd name="T7" fmla="*/ 16 h 1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63" h="1997">
                <a:moveTo>
                  <a:pt x="3963" y="0"/>
                </a:moveTo>
                <a:cubicBezTo>
                  <a:pt x="3963" y="5"/>
                  <a:pt x="3963" y="11"/>
                  <a:pt x="3963" y="16"/>
                </a:cubicBezTo>
                <a:cubicBezTo>
                  <a:pt x="3963" y="1110"/>
                  <a:pt x="3076" y="1997"/>
                  <a:pt x="1982" y="1997"/>
                </a:cubicBezTo>
                <a:cubicBezTo>
                  <a:pt x="888" y="1997"/>
                  <a:pt x="0" y="1110"/>
                  <a:pt x="0" y="16"/>
                </a:cubicBezTo>
              </a:path>
            </a:pathLst>
          </a:custGeom>
          <a:noFill/>
          <a:ln w="8" cap="flat" cmpd="sng">
            <a:solidFill>
              <a:srgbClr val="4E4B49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</a:extLst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7246567" y="2480278"/>
            <a:ext cx="122227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5086039" y="2480278"/>
            <a:ext cx="120840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5380579" y="1543551"/>
            <a:ext cx="1685011" cy="1435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sz="8740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endParaRPr lang="en-US" altLang="en-US" sz="8740" b="1" dirty="0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5380579" y="2746750"/>
            <a:ext cx="1685011" cy="530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45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应用</a:t>
            </a:r>
          </a:p>
        </p:txBody>
      </p:sp>
    </p:spTree>
  </p:cSld>
  <p:clrMapOvr>
    <a:masterClrMapping/>
  </p:clrMapOvr>
  <p:transition advTm="145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0.00312 0.04328 L -0.01614 0.09305 C -0.02422 0.10926 -0.03776 0.13009 -0.05 0.14097 C -0.06198 0.15208 -0.07382 0.16018 -0.08776 0.15949 C -0.10755 0.15949 -0.12174 0.14815 -0.13359 0.13773 C -0.14557 0.12731 -0.15299 0.11203 -0.15976 0.09676 L -0.17461 0.04629 L -0.17955 2.22222E-6 " pathEditMode="relative" rAng="0" ptsTypes="AAAAAAAAA">
                                      <p:cBhvr>
                                        <p:cTn id="30" dur="1000" spd="-99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84" y="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ldLvl="0" animBg="1" autoUpdateAnimBg="0"/>
      <p:bldP spid="8" grpId="0" bldLvl="0" animBg="1"/>
      <p:bldP spid="9" grpId="0" bldLvl="0" animBg="1" autoUpdateAnimBg="0"/>
      <p:bldP spid="9" grpId="1" bldLvl="0" animBg="1" autoUpdateAnimBg="0"/>
      <p:bldP spid="10" grpId="0" bldLvl="0" animBg="1" autoUpdateAnimBg="0"/>
      <p:bldP spid="11" grpId="0" autoUpdateAnimBg="0"/>
      <p:bldP spid="1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0970" y="226695"/>
            <a:ext cx="389064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应用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799888"/>
            <a:ext cx="12192000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五边形 3"/>
          <p:cNvSpPr/>
          <p:nvPr/>
        </p:nvSpPr>
        <p:spPr>
          <a:xfrm>
            <a:off x="1007435" y="1604797"/>
            <a:ext cx="2953107" cy="672075"/>
          </a:xfrm>
          <a:prstGeom prst="homePlate">
            <a:avLst/>
          </a:prstGeom>
          <a:noFill/>
          <a:ln>
            <a:solidFill>
              <a:srgbClr val="15F2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五边形 4"/>
          <p:cNvSpPr/>
          <p:nvPr/>
        </p:nvSpPr>
        <p:spPr>
          <a:xfrm>
            <a:off x="6384032" y="1604797"/>
            <a:ext cx="2953107" cy="672075"/>
          </a:xfrm>
          <a:prstGeom prst="homePlate">
            <a:avLst/>
          </a:prstGeom>
          <a:noFill/>
          <a:ln>
            <a:solidFill>
              <a:srgbClr val="15F2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1007435" y="4197085"/>
            <a:ext cx="2953107" cy="672075"/>
          </a:xfrm>
          <a:prstGeom prst="homePlate">
            <a:avLst/>
          </a:prstGeom>
          <a:noFill/>
          <a:ln>
            <a:solidFill>
              <a:srgbClr val="15F2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五边形 6"/>
          <p:cNvSpPr/>
          <p:nvPr/>
        </p:nvSpPr>
        <p:spPr>
          <a:xfrm>
            <a:off x="6384032" y="4197085"/>
            <a:ext cx="2953107" cy="672075"/>
          </a:xfrm>
          <a:prstGeom prst="homePlate">
            <a:avLst/>
          </a:prstGeom>
          <a:noFill/>
          <a:ln>
            <a:solidFill>
              <a:srgbClr val="15F2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007436" y="2564904"/>
            <a:ext cx="4320480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整合气象、土壤、历史产量等多源数据，基于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Hadoop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平台和深度学习模型（如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CNN-LSTM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）实现精准预测，误差率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&lt;8%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，较传统方法提升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30%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准确度。云计算加速模型训练，迁移学习降低开发成本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6384032" y="2485925"/>
            <a:ext cx="4320480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无人机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多光谱相机实时采集图像，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Spark Streaming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处理数据流，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YOLO/Faster R-CNN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模型识别病虫害，精度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&gt;92%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。结合传感器数据建立预警模型，推荐精准防治方案，减少农药使用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007435" y="5253203"/>
            <a:ext cx="432048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HBase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存储冷链物流实时数据，遗传算法优化配送路径，降低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18%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成本。区块链实现全程溯源，结合智能合约自动预警异常，提升供应链透明度和安全性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6384031" y="5174224"/>
            <a:ext cx="4320480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数据采集难（设备协议不一、成本高），需统一标准、研发低成本传感器。云边协同解决实时性问题（如灌溉控制），边缘计算处理本地任务，云端负责复杂分析。加强</a:t>
            </a:r>
            <a:r>
              <a:rPr lang="en-US" altLang="zh-CN" sz="1400" dirty="0">
                <a:solidFill>
                  <a:srgbClr val="15F2FA"/>
                </a:solidFill>
                <a:cs typeface="+mn-ea"/>
                <a:sym typeface="+mn-lt"/>
              </a:rPr>
              <a:t>5G</a:t>
            </a:r>
            <a:r>
              <a:rPr lang="zh-CN" altLang="en-US" sz="1400" dirty="0">
                <a:solidFill>
                  <a:srgbClr val="15F2FA"/>
                </a:solidFill>
                <a:cs typeface="+mn-ea"/>
                <a:sym typeface="+mn-lt"/>
              </a:rPr>
              <a:t>覆盖，优化网络环境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1032343" y="1694614"/>
            <a:ext cx="2694516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农作物产量预测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6384033" y="1677532"/>
            <a:ext cx="2694516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病虫害智能监测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007435" y="4286902"/>
            <a:ext cx="2694516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农产品供应链优化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6359125" y="4269820"/>
            <a:ext cx="2694516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挑战与对策</a:t>
            </a:r>
          </a:p>
        </p:txBody>
      </p:sp>
    </p:spTree>
  </p:cSld>
  <p:clrMapOvr>
    <a:masterClrMapping/>
  </p:clrMapOvr>
  <p:transition advTm="2294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ldLvl="0" animBg="1"/>
      <p:bldP spid="5" grpId="0" bldLvl="0" animBg="1"/>
      <p:bldP spid="6" grpId="0" bldLvl="0" animBg="1"/>
      <p:bldP spid="7" grpId="0" bldLvl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1DAA-29D6-9CD3-8A07-1DDCAD5EE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44A252E-C134-81C1-9A30-0EE0B08D0C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1760" y="-17225"/>
            <a:ext cx="8908481" cy="6892450"/>
          </a:xfrm>
          <a:prstGeom prst="rect">
            <a:avLst/>
          </a:prstGeom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D2E0254D-8902-2F91-E50B-B88BF4160385}"/>
              </a:ext>
            </a:extLst>
          </p:cNvPr>
          <p:cNvSpPr txBox="1"/>
          <p:nvPr/>
        </p:nvSpPr>
        <p:spPr>
          <a:xfrm>
            <a:off x="2309255" y="3594447"/>
            <a:ext cx="7827659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3500" dirty="0">
                <a:solidFill>
                  <a:srgbClr val="15F2FA"/>
                </a:solidFill>
                <a:latin typeface="+mn-lt"/>
                <a:ea typeface="+mn-ea"/>
                <a:cs typeface="+mn-ea"/>
                <a:sym typeface="+mn-lt"/>
              </a:rPr>
              <a:t>总结、展望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5625EF14-A644-8CD5-F3A8-945BB7EBC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819" y="1504690"/>
            <a:ext cx="1973685" cy="1982018"/>
          </a:xfrm>
          <a:prstGeom prst="ellipse">
            <a:avLst/>
          </a:prstGeom>
          <a:solidFill>
            <a:srgbClr val="15F2F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843" tIns="45422" rIns="90843" bIns="45422" numCol="1" rtlCol="0" anchor="t" anchorCtr="0" compatLnSpc="1"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7A6B47-3DB8-8DFA-732B-CCC15515D62F}"/>
              </a:ext>
            </a:extLst>
          </p:cNvPr>
          <p:cNvSpPr/>
          <p:nvPr/>
        </p:nvSpPr>
        <p:spPr bwMode="auto">
          <a:xfrm>
            <a:off x="5140594" y="2516937"/>
            <a:ext cx="2168135" cy="1097262"/>
          </a:xfrm>
          <a:custGeom>
            <a:avLst/>
            <a:gdLst>
              <a:gd name="T0" fmla="*/ 3963 w 3963"/>
              <a:gd name="T1" fmla="*/ 0 h 1997"/>
              <a:gd name="T2" fmla="*/ 3963 w 3963"/>
              <a:gd name="T3" fmla="*/ 16 h 1997"/>
              <a:gd name="T4" fmla="*/ 1982 w 3963"/>
              <a:gd name="T5" fmla="*/ 1997 h 1997"/>
              <a:gd name="T6" fmla="*/ 0 w 3963"/>
              <a:gd name="T7" fmla="*/ 16 h 1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63" h="1997">
                <a:moveTo>
                  <a:pt x="3963" y="0"/>
                </a:moveTo>
                <a:cubicBezTo>
                  <a:pt x="3963" y="5"/>
                  <a:pt x="3963" y="11"/>
                  <a:pt x="3963" y="16"/>
                </a:cubicBezTo>
                <a:cubicBezTo>
                  <a:pt x="3963" y="1110"/>
                  <a:pt x="3076" y="1997"/>
                  <a:pt x="1982" y="1997"/>
                </a:cubicBezTo>
                <a:cubicBezTo>
                  <a:pt x="888" y="1997"/>
                  <a:pt x="0" y="1110"/>
                  <a:pt x="0" y="16"/>
                </a:cubicBezTo>
              </a:path>
            </a:pathLst>
          </a:custGeom>
          <a:noFill/>
          <a:ln w="8" cap="flat" cmpd="sng">
            <a:solidFill>
              <a:srgbClr val="4E4B49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</a:extLst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86A232D1-05DF-CD9D-DFE1-AFCD1BA8D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567" y="2480278"/>
            <a:ext cx="122227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EF55E793-57A2-9F32-B273-21B6C13AC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039" y="2480278"/>
            <a:ext cx="120840" cy="12222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zh-CN" altLang="en-US" sz="128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86133020-D75C-682E-6120-73B6F13CC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0579" y="1543551"/>
            <a:ext cx="1685011" cy="1435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en-US" sz="8740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5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A557C753-2EA6-A71D-419A-3EC23D812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0579" y="2746750"/>
            <a:ext cx="1685011" cy="530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45" b="1" dirty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总结展望</a:t>
            </a:r>
          </a:p>
        </p:txBody>
      </p:sp>
    </p:spTree>
    <p:extLst>
      <p:ext uri="{BB962C8B-B14F-4D97-AF65-F5344CB8AC3E}">
        <p14:creationId xmlns:p14="http://schemas.microsoft.com/office/powerpoint/2010/main" val="2020235965"/>
      </p:ext>
    </p:extLst>
  </p:cSld>
  <p:clrMapOvr>
    <a:masterClrMapping/>
  </p:clrMapOvr>
  <p:transition advTm="145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0.00312 0.04328 L -0.01614 0.09305 C -0.02422 0.10926 -0.03776 0.13009 -0.05 0.14097 C -0.06198 0.15208 -0.07382 0.16018 -0.08776 0.15949 C -0.10755 0.15949 -0.12174 0.14815 -0.13359 0.13773 C -0.14557 0.12731 -0.15299 0.11203 -0.15976 0.09676 L -0.17461 0.04629 L -0.17955 2.22222E-6 " pathEditMode="relative" rAng="0" ptsTypes="AAAAAAAAA">
                                      <p:cBhvr>
                                        <p:cTn id="30" dur="1000" spd="-99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84" y="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ldLvl="0" animBg="1" autoUpdateAnimBg="0"/>
      <p:bldP spid="8" grpId="0" bldLvl="0" animBg="1"/>
      <p:bldP spid="9" grpId="0" bldLvl="0" animBg="1" autoUpdateAnimBg="0"/>
      <p:bldP spid="9" grpId="1" bldLvl="0" animBg="1" autoUpdateAnimBg="0"/>
      <p:bldP spid="10" grpId="0" bldLvl="0" animBg="1" autoUpdateAnimBg="0"/>
      <p:bldP spid="11" grpId="0" autoUpdateAnimBg="0"/>
      <p:bldP spid="1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0970" y="226695"/>
            <a:ext cx="389064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5F2FA"/>
                </a:solidFill>
                <a:cs typeface="+mn-ea"/>
                <a:sym typeface="+mn-lt"/>
              </a:rPr>
              <a:t>总结展望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799888"/>
            <a:ext cx="12192000" cy="0"/>
          </a:xfrm>
          <a:prstGeom prst="line">
            <a:avLst/>
          </a:prstGeom>
          <a:ln>
            <a:solidFill>
              <a:srgbClr val="15F2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192011" y="1700808"/>
            <a:ext cx="0" cy="4992555"/>
          </a:xfrm>
          <a:prstGeom prst="line">
            <a:avLst/>
          </a:prstGeom>
          <a:ln>
            <a:solidFill>
              <a:srgbClr val="318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5626888" y="3247920"/>
            <a:ext cx="1130245" cy="1130245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782" y="2869707"/>
            <a:ext cx="4320479" cy="2535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5F2FA"/>
                </a:solidFill>
                <a:cs typeface="+mn-ea"/>
                <a:sym typeface="+mn-lt"/>
              </a:rPr>
              <a:t>研究构建了基于</a:t>
            </a:r>
            <a:r>
              <a:rPr lang="en-US" altLang="zh-CN" dirty="0">
                <a:solidFill>
                  <a:srgbClr val="15F2FA"/>
                </a:solidFill>
                <a:cs typeface="+mn-ea"/>
                <a:sym typeface="+mn-lt"/>
              </a:rPr>
              <a:t>Hadoop</a:t>
            </a:r>
            <a:r>
              <a:rPr lang="zh-CN" altLang="en-US" dirty="0">
                <a:solidFill>
                  <a:srgbClr val="15F2FA"/>
                </a:solidFill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rgbClr val="15F2FA"/>
                </a:solidFill>
                <a:cs typeface="+mn-ea"/>
                <a:sym typeface="+mn-lt"/>
              </a:rPr>
              <a:t>Spark</a:t>
            </a:r>
            <a:r>
              <a:rPr lang="zh-CN" altLang="en-US" dirty="0">
                <a:solidFill>
                  <a:srgbClr val="15F2FA"/>
                </a:solidFill>
                <a:cs typeface="+mn-ea"/>
                <a:sym typeface="+mn-lt"/>
              </a:rPr>
              <a:t>的农业大数据处理架构，实现玉米产量预测（误差</a:t>
            </a:r>
            <a:r>
              <a:rPr lang="en-US" altLang="zh-CN" dirty="0">
                <a:solidFill>
                  <a:srgbClr val="15F2FA"/>
                </a:solidFill>
                <a:cs typeface="+mn-ea"/>
                <a:sym typeface="+mn-lt"/>
              </a:rPr>
              <a:t>&lt;8%</a:t>
            </a:r>
            <a:r>
              <a:rPr lang="zh-CN" altLang="en-US" dirty="0">
                <a:solidFill>
                  <a:srgbClr val="15F2FA"/>
                </a:solidFill>
                <a:cs typeface="+mn-ea"/>
                <a:sym typeface="+mn-lt"/>
              </a:rPr>
              <a:t>）、病虫害识别（精度</a:t>
            </a:r>
            <a:r>
              <a:rPr lang="en-US" altLang="zh-CN" dirty="0">
                <a:solidFill>
                  <a:srgbClr val="15F2FA"/>
                </a:solidFill>
                <a:cs typeface="+mn-ea"/>
                <a:sym typeface="+mn-lt"/>
              </a:rPr>
              <a:t>&gt;92%</a:t>
            </a:r>
            <a:r>
              <a:rPr lang="zh-CN" altLang="en-US" dirty="0">
                <a:solidFill>
                  <a:srgbClr val="15F2FA"/>
                </a:solidFill>
                <a:cs typeface="+mn-ea"/>
                <a:sym typeface="+mn-lt"/>
              </a:rPr>
              <a:t>）和冷链优化（成本降</a:t>
            </a:r>
            <a:r>
              <a:rPr lang="en-US" altLang="zh-CN" dirty="0">
                <a:solidFill>
                  <a:srgbClr val="15F2FA"/>
                </a:solidFill>
                <a:cs typeface="+mn-ea"/>
                <a:sym typeface="+mn-lt"/>
              </a:rPr>
              <a:t>18%</a:t>
            </a:r>
            <a:r>
              <a:rPr lang="zh-CN" altLang="en-US" dirty="0">
                <a:solidFill>
                  <a:srgbClr val="15F2FA"/>
                </a:solidFill>
                <a:cs typeface="+mn-ea"/>
                <a:sym typeface="+mn-lt"/>
              </a:rPr>
              <a:t>）。通过混合架构解决数据采集与实时计算难题，为农业智能化提供技术支撑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888" y="2316376"/>
            <a:ext cx="3264363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665" dirty="0">
                <a:solidFill>
                  <a:srgbClr val="15F2FA"/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1485" y="2328765"/>
            <a:ext cx="3264363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5" dirty="0">
                <a:solidFill>
                  <a:srgbClr val="15F2FA"/>
                </a:solidFill>
                <a:cs typeface="+mn-ea"/>
                <a:sym typeface="+mn-lt"/>
              </a:rPr>
              <a:t>展望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9834" y="2904828"/>
            <a:ext cx="4388143" cy="2535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5F2FA"/>
                </a:solidFill>
                <a:cs typeface="+mn-ea"/>
                <a:sym typeface="+mn-lt"/>
              </a:rPr>
              <a:t>技术将向多模型融合（</a:t>
            </a:r>
            <a:r>
              <a:rPr lang="en-US" altLang="zh-CN" dirty="0">
                <a:solidFill>
                  <a:srgbClr val="15F2FA"/>
                </a:solidFill>
                <a:cs typeface="+mn-ea"/>
                <a:sym typeface="+mn-lt"/>
              </a:rPr>
              <a:t>Transformer</a:t>
            </a:r>
            <a:r>
              <a:rPr lang="zh-CN" altLang="en-US" dirty="0">
                <a:solidFill>
                  <a:srgbClr val="15F2FA"/>
                </a:solidFill>
                <a:cs typeface="+mn-ea"/>
                <a:sym typeface="+mn-lt"/>
              </a:rPr>
              <a:t>、</a:t>
            </a:r>
            <a:r>
              <a:rPr lang="en-US" altLang="zh-CN" dirty="0">
                <a:solidFill>
                  <a:srgbClr val="15F2FA"/>
                </a:solidFill>
                <a:cs typeface="+mn-ea"/>
                <a:sym typeface="+mn-lt"/>
              </a:rPr>
              <a:t>GNN</a:t>
            </a:r>
            <a:r>
              <a:rPr lang="zh-CN" altLang="en-US" dirty="0">
                <a:solidFill>
                  <a:srgbClr val="15F2FA"/>
                </a:solidFill>
                <a:cs typeface="+mn-ea"/>
                <a:sym typeface="+mn-lt"/>
              </a:rPr>
              <a:t>）、数字孪生、量子计算等方向发展；拓展碳管理、精准育种、农业元宇宙等场景；完善数据中台、边缘智能设备和服务生态，政策助力标准制定与人才培养，推动农业数字化转型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5926552" y="3438389"/>
            <a:ext cx="530915" cy="66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5" b="1" dirty="0">
                <a:solidFill>
                  <a:srgbClr val="15F2FA"/>
                </a:solidFill>
                <a:cs typeface="+mn-ea"/>
                <a:sym typeface="+mn-lt"/>
              </a:rPr>
              <a:t>&amp;</a:t>
            </a:r>
            <a:endParaRPr lang="zh-CN" altLang="en-US" sz="3735" b="1" dirty="0">
              <a:solidFill>
                <a:srgbClr val="15F2FA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advTm="978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5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50"/>
                            </p:stCondLst>
                            <p:childTnLst>
                              <p:par>
                                <p:cTn id="3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6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1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 bldLvl="0" animBg="1"/>
      <p:bldP spid="27" grpId="0"/>
      <p:bldP spid="32" grpId="0"/>
      <p:bldP spid="33" grpId="0"/>
      <p:bldP spid="34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1760" y="-17225"/>
            <a:ext cx="8908481" cy="6892450"/>
          </a:xfrm>
          <a:prstGeom prst="rect">
            <a:avLst/>
          </a:prstGeom>
        </p:spPr>
      </p:pic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344209" y="2298961"/>
            <a:ext cx="10201065" cy="785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43" tIns="45422" rIns="90843" bIns="45422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zh-CN" altLang="zh-CN" sz="6000" b="1" dirty="0">
                <a:solidFill>
                  <a:srgbClr val="15F2FA"/>
                </a:solidFill>
                <a:latin typeface="+mn-lt"/>
                <a:ea typeface="+mn-ea"/>
                <a:cs typeface="+mn-ea"/>
                <a:sym typeface="+mn-lt"/>
              </a:rPr>
              <a:t>谢谢观看</a:t>
            </a:r>
            <a:r>
              <a:rPr lang="zh-CN" altLang="en-US" sz="6000" b="1" dirty="0">
                <a:solidFill>
                  <a:srgbClr val="15F2FA"/>
                </a:solidFill>
                <a:latin typeface="+mn-lt"/>
                <a:ea typeface="+mn-ea"/>
                <a:cs typeface="+mn-ea"/>
                <a:sym typeface="+mn-lt"/>
              </a:rPr>
              <a:t>！</a:t>
            </a:r>
            <a:endParaRPr lang="zh-CN" altLang="zh-CN" sz="6000" b="1" dirty="0">
              <a:solidFill>
                <a:srgbClr val="15F2FA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1529523" y="3234191"/>
            <a:ext cx="9277545" cy="5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5F2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43" tIns="45422" rIns="90843" bIns="45422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200" b="0" dirty="0">
                <a:solidFill>
                  <a:srgbClr val="15F2FA"/>
                </a:solidFill>
                <a:latin typeface="+mn-lt"/>
                <a:ea typeface="+mn-ea"/>
                <a:cs typeface="+mn-ea"/>
                <a:sym typeface="+mn-lt"/>
              </a:rPr>
              <a:t>计科</a:t>
            </a:r>
            <a:r>
              <a:rPr lang="en-US" altLang="zh-CN" sz="1200" b="0" dirty="0">
                <a:solidFill>
                  <a:srgbClr val="15F2FA"/>
                </a:solidFill>
                <a:latin typeface="+mn-lt"/>
                <a:ea typeface="+mn-ea"/>
                <a:cs typeface="+mn-ea"/>
                <a:sym typeface="+mn-lt"/>
              </a:rPr>
              <a:t>221 </a:t>
            </a:r>
            <a:r>
              <a:rPr lang="zh-CN" altLang="en-US" sz="1200" b="0" dirty="0">
                <a:solidFill>
                  <a:srgbClr val="15F2FA"/>
                </a:solidFill>
                <a:latin typeface="+mn-lt"/>
                <a:ea typeface="+mn-ea"/>
                <a:cs typeface="+mn-ea"/>
                <a:sym typeface="+mn-lt"/>
              </a:rPr>
              <a:t>董自经 </a:t>
            </a:r>
            <a:r>
              <a:rPr lang="en-US" altLang="zh-CN" sz="1200" b="0" dirty="0">
                <a:solidFill>
                  <a:srgbClr val="15F2FA"/>
                </a:solidFill>
                <a:latin typeface="+mn-lt"/>
                <a:ea typeface="+mn-ea"/>
                <a:cs typeface="+mn-ea"/>
                <a:sym typeface="+mn-lt"/>
              </a:rPr>
              <a:t>19222126</a:t>
            </a:r>
            <a:endParaRPr lang="zh-CN" altLang="zh-CN" sz="1200" b="0" dirty="0">
              <a:solidFill>
                <a:srgbClr val="15F2FA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advTm="641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8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8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38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SCORM_RATE_SLIDES" val="0"/>
  <p:tag name="ISPRING_SCORM_RATE_QUIZZES" val="0"/>
  <p:tag name="ISPRING_SCORM_PASSING_SCORE" val="0.000000"/>
  <p:tag name="ISPRING_ULTRA_SCORM_COURSE_ID" val="1C9D9715-80BC-46E6-A728-6661B6E81BE5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G:\第九批已完成作品\218225"/>
  <p:tag name="ISPRING_FIRST_PUBLISH" val="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gmzsur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gmzsur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976</Words>
  <Application>Microsoft Office PowerPoint</Application>
  <PresentationFormat>宽屏</PresentationFormat>
  <Paragraphs>103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微软雅黑</vt:lpstr>
      <vt:lpstr>Arial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商务科技</dc:title>
  <dc:creator>第一PPT</dc:creator>
  <cp:keywords>www.1ppt.com</cp:keywords>
  <dc:description>www.1ppt.com</dc:description>
  <cp:lastModifiedBy>zijing dong</cp:lastModifiedBy>
  <cp:revision>31</cp:revision>
  <dcterms:created xsi:type="dcterms:W3CDTF">2017-07-15T13:07:00Z</dcterms:created>
  <dcterms:modified xsi:type="dcterms:W3CDTF">2025-07-01T14:05:42Z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F265CE82CFEF49DF956161CD21C43F33_12</vt:lpwstr>
  </property>
  <property fmtid="{D5CDD505-2E9C-101B-9397-08002B2CF9AE}" pid="3" name="KSOProductBuildVer">
    <vt:lpwstr>2052-12.1.0.15374</vt:lpwstr>
  </property>
</Properties>
</file>